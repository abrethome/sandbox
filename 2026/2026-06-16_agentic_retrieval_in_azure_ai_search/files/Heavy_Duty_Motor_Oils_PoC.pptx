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vy Duty Motor Oils (HDMO): Standards, Applications, and Operational Considerations" id="{315A65C1-BD1E-4DFE-ABA2-BE83022F1048}">
          <p14:sldIdLst>
            <p14:sldId id="2561"/>
          </p14:sldIdLst>
        </p14:section>
        <p14:section name="Foundations of Heavy Duty Motor Oils" id="{DB29AF59-9C31-4674-BD16-6EB57BF04AA0}">
          <p14:sldIdLst>
            <p14:sldId id="2562"/>
            <p14:sldId id="2563"/>
          </p14:sldIdLst>
        </p14:section>
        <p14:section name="HDMO Standards and Classification" id="{0B9DC357-6764-48FE-96B3-F251E544466D}">
          <p14:sldIdLst>
            <p14:sldId id="2564"/>
            <p14:sldId id="2565"/>
          </p14:sldIdLst>
        </p14:section>
        <p14:section name="Viscosity and Performance Trade-offs" id="{B1CAF81C-822A-4867-BC38-F194D0737A8A}">
          <p14:sldIdLst>
            <p14:sldId id="2566"/>
            <p14:sldId id="2567"/>
          </p14:sldIdLst>
        </p14:section>
        <p14:section name="OEM Approvals and Drain Interval Strategy" id="{956A0300-4D74-4AE1-9390-BFAE3B10BA38}">
          <p14:sldIdLst>
            <p14:sldId id="2568"/>
            <p14:sldId id="2569"/>
          </p14:sldIdLst>
        </p14:section>
        <p14:section name="Formulation and Market Trends" id="{71B7F217-1908-4978-92E8-CA28F1282DE2}">
          <p14:sldIdLst>
            <p14:sldId id="2570"/>
            <p14:sldId id="2571"/>
          </p14:sldIdLst>
        </p14:section>
        <p14:section name="Practical Implications and Use Cases" id="{8401EF92-8BB1-44CF-9711-890FA162F5B4}">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299" autoAdjust="0"/>
  </p:normalViewPr>
  <p:slideViewPr>
    <p:cSldViewPr snapToGrid="0">
      <p:cViewPr varScale="1">
        <p:scale>
          <a:sx n="71" d="100"/>
          <a:sy n="71" d="100"/>
        </p:scale>
        <p:origin x="19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0EA6A-03D5-41CD-BE76-DA14745A5AFF}" type="datetimeFigureOut">
              <a:t>03/06/2026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9DC79E-BD96-41F7-93C3-C69F63D22F77}" type="slidenum">
              <a:t>‹#›</a:t>
            </a:fld>
            <a:endParaRPr lang="en-US"/>
          </a:p>
        </p:txBody>
      </p:sp>
    </p:spTree>
    <p:extLst>
      <p:ext uri="{BB962C8B-B14F-4D97-AF65-F5344CB8AC3E}">
        <p14:creationId xmlns:p14="http://schemas.microsoft.com/office/powerpoint/2010/main" val="244498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03085E6-F8D6-4031-9275-018A5D6C567E}" type="slidenum">
              <a:t>1</a:t>
            </a:fld>
            <a:endParaRPr lang="en-US"/>
          </a:p>
        </p:txBody>
      </p:sp>
    </p:spTree>
    <p:extLst>
      <p:ext uri="{BB962C8B-B14F-4D97-AF65-F5344CB8AC3E}">
        <p14:creationId xmlns:p14="http://schemas.microsoft.com/office/powerpoint/2010/main" val="2674719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https://dieseloilmatters.com/en/oil-guide/big-rig,https://fleetrabbit.com/blogs/post/fleet-manager-guide-choosing-engine-oil
Purpose and scope of heavy duty motor oils
</a:t>
            </a:r>
          </a:p>
        </p:txBody>
      </p:sp>
      <p:sp>
        <p:nvSpPr>
          <p:cNvPr id="4" name="Slide Number Placeholder 3"/>
          <p:cNvSpPr>
            <a:spLocks noGrp="1"/>
          </p:cNvSpPr>
          <p:nvPr>
            <p:ph type="sldNum" sz="quarter" idx="5"/>
          </p:nvPr>
        </p:nvSpPr>
        <p:spPr/>
        <p:txBody>
          <a:bodyPr/>
          <a:lstStyle/>
          <a:p>
            <a:fld id="{403085E6-F8D6-4031-9275-018A5D6C567E}" type="slidenum">
              <a:t>2</a:t>
            </a:fld>
            <a:endParaRPr lang="en-US"/>
          </a:p>
        </p:txBody>
      </p:sp>
    </p:spTree>
    <p:extLst>
      <p:ext uri="{BB962C8B-B14F-4D97-AF65-F5344CB8AC3E}">
        <p14:creationId xmlns:p14="http://schemas.microsoft.com/office/powerpoint/2010/main" val="820102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https://dieseloilmatters.com/en/oil-guide/big-rig,https://fleetrabbit.com/blogs/post/fleet-manager-guide-choosing-engine-oil
Heavy duty motor oils (HDMO) are engineered to protect large, high-load diesel engines operating under severe conditions such as long-haul trucking, construction equipment, mining vehicles, and on-highway commercial fleets. Unlike passenger car motor oils, HDMOs must manage significantly higher soot loading, elevated combustion pressures, and extended operating hours. Their primary functions include forming a durable lubricating film to reduce friction and wear, controlling soot and contaminants through robust detergent–dispersant systems, managing oxidation and thermal degradation at high temperatures, and protecting aftertreatment systems such as diesel particulate filters (DPF) and exhaust gas recirculation (EGR) components. Modern HDMOs are also closely linked to regulatory and operational goals, including fuel efficiency, greenhouse gas reduction, and total cost of ownership optimization for fleets. The American Petroleum Institute (API) classifies heavy duty diesel engine oils under the “C” (Commercial) categories, with current on-highway categories dominated by API CK-4 and API FA-4. These categories were introduced to address newer engine designs, tighter emission limits, and higher durability expectations compared with older CJ-4 and CI-4 oils. HDMOs are selected not only by API category but also by SAE viscosity grade and, critically, by original equipment manufacturer (OEM) approvals that define compatibility with specific engine families. In practice, a fleet’s oil strategy must balance protection, efficiency, and operational risk. Using an oil that is too viscous can reduce fuel economy and cold-start performance, while an oil that is too thin or incorrectly specified can compromise wear protection or void warranties. As a result, HDMO selection is a multi-dimensional decision involving standards compliance, engine design, duty cycle, climate, drain interval strategy, and maintenance practices such as used oil analysis. This foundational understanding sets the stage for comparing current categories, viscosities, and OEM considerations that shape modern heavy duty lubrication programs.
</a:t>
            </a:r>
          </a:p>
        </p:txBody>
      </p:sp>
      <p:sp>
        <p:nvSpPr>
          <p:cNvPr id="4" name="Slide Number Placeholder 3"/>
          <p:cNvSpPr>
            <a:spLocks noGrp="1"/>
          </p:cNvSpPr>
          <p:nvPr>
            <p:ph type="sldNum" sz="quarter" idx="5"/>
          </p:nvPr>
        </p:nvSpPr>
        <p:spPr/>
        <p:txBody>
          <a:bodyPr/>
          <a:lstStyle/>
          <a:p>
            <a:fld id="{403085E6-F8D6-4031-9275-018A5D6C567E}" type="slidenum">
              <a:t>3</a:t>
            </a:fld>
            <a:endParaRPr lang="en-US"/>
          </a:p>
        </p:txBody>
      </p:sp>
    </p:spTree>
    <p:extLst>
      <p:ext uri="{BB962C8B-B14F-4D97-AF65-F5344CB8AC3E}">
        <p14:creationId xmlns:p14="http://schemas.microsoft.com/office/powerpoint/2010/main" val="3925721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https://dieseloilmatters.com/en/oil-guide/big-rig,https://www.superiorequipmentrepair.com/blog/diesel-engine-oil-standards-api-ck-4-vs-fa-4-explained/
API CK-4 and FA-4 categories explained
</a:t>
            </a:r>
          </a:p>
        </p:txBody>
      </p:sp>
      <p:sp>
        <p:nvSpPr>
          <p:cNvPr id="4" name="Slide Number Placeholder 3"/>
          <p:cNvSpPr>
            <a:spLocks noGrp="1"/>
          </p:cNvSpPr>
          <p:nvPr>
            <p:ph type="sldNum" sz="quarter" idx="5"/>
          </p:nvPr>
        </p:nvSpPr>
        <p:spPr/>
        <p:txBody>
          <a:bodyPr/>
          <a:lstStyle/>
          <a:p>
            <a:fld id="{403085E6-F8D6-4031-9275-018A5D6C567E}" type="slidenum">
              <a:t>4</a:t>
            </a:fld>
            <a:endParaRPr lang="en-US"/>
          </a:p>
        </p:txBody>
      </p:sp>
    </p:spTree>
    <p:extLst>
      <p:ext uri="{BB962C8B-B14F-4D97-AF65-F5344CB8AC3E}">
        <p14:creationId xmlns:p14="http://schemas.microsoft.com/office/powerpoint/2010/main" val="161146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https://dieseloilmatters.com/en/oil-guide/big-rig,https://www.superiorequipmentrepair.com/blog/diesel-engine-oil-standards-api-ck-4-vs-fa-4-explained/
API CK-4 and API FA-4 represent the current core performance categories for on-highway heavy duty diesel engine oils. Introduced in 2016, these categories were designed to replace CJ-4 and to support modern engines operating with advanced emissions controls and higher thermal stress. API CK-4 oils are formulated to deliver improved oxidation resistance, shear stability, aeration control, and wear protection compared with earlier categories. A key feature of CK-4 is its backward compatibility: in many applications, CK-4 oils can be used in engines that previously required CJ-4, CI-4, or CH-4, subject to OEM guidance. This makes CK-4 a versatile choice for mixed fleets that include both newer and older engines. In contrast, API FA-4 oils are optimized for certain newer engine designs that prioritize fuel efficiency. FA-4 oils typically have lower high-temperature high-shear (HTHS) viscosity, generally in the range of 2.9–3.2 cP, compared with the minimum 3.5 cP required for CK-4. This reduced viscosity lowers internal friction and can deliver measurable fuel economy benefits in approved engines. However, FA-4 oils are not backward compatible and must only be used where the engine manufacturer explicitly allows them. Using FA-4 in an unapproved engine can increase wear risk and lead to warranty issues. Both categories include stringent tests for oxidation control, piston deposit management, soot handling, and compatibility with aftertreatment systems. In real-world fleet operations, the choice between CK-4 and FA-4 is rarely abstract; it is driven by engine model year, OEM approval lists, duty cycle, and the operator’s tolerance for complexity versus efficiency gains. Understanding the intent and limitations of each category is essential for building a compliant and reliable lubrication strategy.
The embedded chart illustrates a simplified comparison of high-temperature high-shear (HTHS) viscosity between API CK-4 and API FA-4 oils. CK-4 oils maintain a higher minimum HTHS viscosity to emphasize durability and broad engine compatibility, while FA-4 oils operate in a lower HTHS range to reduce friction and support fuel economy in approved engines. This visual contrast helps explain why FA-4 cannot be universally substituted for CK-4 despite similar base performance goals.
</a:t>
            </a:r>
          </a:p>
        </p:txBody>
      </p:sp>
      <p:sp>
        <p:nvSpPr>
          <p:cNvPr id="4" name="Slide Number Placeholder 3"/>
          <p:cNvSpPr>
            <a:spLocks noGrp="1"/>
          </p:cNvSpPr>
          <p:nvPr>
            <p:ph type="sldNum" sz="quarter" idx="5"/>
          </p:nvPr>
        </p:nvSpPr>
        <p:spPr/>
        <p:txBody>
          <a:bodyPr/>
          <a:lstStyle/>
          <a:p>
            <a:fld id="{403085E6-F8D6-4031-9275-018A5D6C567E}" type="slidenum">
              <a:t>5</a:t>
            </a:fld>
            <a:endParaRPr lang="en-US"/>
          </a:p>
        </p:txBody>
      </p:sp>
    </p:spTree>
    <p:extLst>
      <p:ext uri="{BB962C8B-B14F-4D97-AF65-F5344CB8AC3E}">
        <p14:creationId xmlns:p14="http://schemas.microsoft.com/office/powerpoint/2010/main" val="391046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https://fleetrabbit.com/blogs/post/fleet-manager-guide-choosing-engine-oil,https://www.oilspecifications.org/articles/differences-between-passenger-car-motor-oils-and-heavy-duty-motor-oils.php
Role of viscosity and HTHS in heavy duty engines
</a:t>
            </a:r>
          </a:p>
        </p:txBody>
      </p:sp>
      <p:sp>
        <p:nvSpPr>
          <p:cNvPr id="4" name="Slide Number Placeholder 3"/>
          <p:cNvSpPr>
            <a:spLocks noGrp="1"/>
          </p:cNvSpPr>
          <p:nvPr>
            <p:ph type="sldNum" sz="quarter" idx="5"/>
          </p:nvPr>
        </p:nvSpPr>
        <p:spPr/>
        <p:txBody>
          <a:bodyPr/>
          <a:lstStyle/>
          <a:p>
            <a:fld id="{403085E6-F8D6-4031-9275-018A5D6C567E}" type="slidenum">
              <a:t>6</a:t>
            </a:fld>
            <a:endParaRPr lang="en-US"/>
          </a:p>
        </p:txBody>
      </p:sp>
    </p:spTree>
    <p:extLst>
      <p:ext uri="{BB962C8B-B14F-4D97-AF65-F5344CB8AC3E}">
        <p14:creationId xmlns:p14="http://schemas.microsoft.com/office/powerpoint/2010/main" val="2521625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https://fleetrabbit.com/blogs/post/fleet-manager-guide-choosing-engine-oil,https://www.oilspecifications.org/articles/differences-between-passenger-car-motor-oils-and-heavy-duty-motor-oils.php
Viscosity is one of the most critical properties of heavy duty motor oils, directly influencing lubrication film strength, wear protection, cold-start behavior, and fuel efficiency. SAE viscosity grades such as 15W-40, 10W-30, and 5W-30 are commonly used in heavy duty applications, with the choice depending on climate, engine design, and operational priorities. The first number with the “W” designation reflects low-temperature flow, affecting how quickly oil circulates during cold starts, while the second number indicates viscosity at operating temperature. Beyond kinematic viscosity, high-temperature high-shear (HTHS) viscosity is particularly important in heavy duty engines because it reflects oil behavior under the extreme shear conditions found in bearings and valvetrain components. Higher HTHS values generally correlate with stronger oil films and improved wear protection under heavy loads, which is why traditional heavy duty oils favored thicker formulations. However, thicker oils also increase hydrodynamic drag, which can reduce fuel economy. Modern standards such as CK-4 and FA-4 explicitly recognize this trade-off. CK-4 maintains higher HTHS viscosity to support durability across a wide range of engines and duty cycles, while FA-4 intentionally lowers HTHS viscosity to reduce friction and improve efficiency in approved engines. The operational implication is that viscosity selection is no longer purely about protection; it is also a strategic lever for efficiency and emissions compliance. Fleet operators must consider whether their engines, routes, and maintenance practices can safely support lower-viscosity oils. In many cases, OEMs pair lower-viscosity recommendations with specific engine designs, tighter tolerances, and defined drain intervals. As a result, viscosity decisions should always be aligned with OEM guidance and supported by monitoring tools such as used oil analysis to ensure that protection is not compromised over time.
</a:t>
            </a:r>
          </a:p>
        </p:txBody>
      </p:sp>
      <p:sp>
        <p:nvSpPr>
          <p:cNvPr id="4" name="Slide Number Placeholder 3"/>
          <p:cNvSpPr>
            <a:spLocks noGrp="1"/>
          </p:cNvSpPr>
          <p:nvPr>
            <p:ph type="sldNum" sz="quarter" idx="5"/>
          </p:nvPr>
        </p:nvSpPr>
        <p:spPr/>
        <p:txBody>
          <a:bodyPr/>
          <a:lstStyle/>
          <a:p>
            <a:fld id="{403085E6-F8D6-4031-9275-018A5D6C567E}" type="slidenum">
              <a:t>7</a:t>
            </a:fld>
            <a:endParaRPr lang="en-US"/>
          </a:p>
        </p:txBody>
      </p:sp>
    </p:spTree>
    <p:extLst>
      <p:ext uri="{BB962C8B-B14F-4D97-AF65-F5344CB8AC3E}">
        <p14:creationId xmlns:p14="http://schemas.microsoft.com/office/powerpoint/2010/main" val="774370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https://www.chevronlubricants.com/content/dam/external/delo/en_us/sales-material/brochures/24985%20-%20OEM%20Drain%20Intervals%20Bro%20042718.pdf,https://fleetrabbit.com/blogs/post/fleet-manager-guide-choosing-engine-oil
Importance of OEM specifications and approvals
</a:t>
            </a:r>
          </a:p>
        </p:txBody>
      </p:sp>
      <p:sp>
        <p:nvSpPr>
          <p:cNvPr id="4" name="Slide Number Placeholder 3"/>
          <p:cNvSpPr>
            <a:spLocks noGrp="1"/>
          </p:cNvSpPr>
          <p:nvPr>
            <p:ph type="sldNum" sz="quarter" idx="5"/>
          </p:nvPr>
        </p:nvSpPr>
        <p:spPr/>
        <p:txBody>
          <a:bodyPr/>
          <a:lstStyle/>
          <a:p>
            <a:fld id="{403085E6-F8D6-4031-9275-018A5D6C567E}" type="slidenum">
              <a:t>8</a:t>
            </a:fld>
            <a:endParaRPr lang="en-US"/>
          </a:p>
        </p:txBody>
      </p:sp>
    </p:spTree>
    <p:extLst>
      <p:ext uri="{BB962C8B-B14F-4D97-AF65-F5344CB8AC3E}">
        <p14:creationId xmlns:p14="http://schemas.microsoft.com/office/powerpoint/2010/main" val="1142314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https://www.chevronlubricants.com/content/dam/external/delo/en_us/sales-material/brochures/24985%20-%20OEM%20Drain%20Intervals%20Bro%20042718.pdf,https://fleetrabbit.com/blogs/post/fleet-manager-guide-choosing-engine-oil
While API categories establish baseline performance requirements, original equipment manufacturer (OEM) approvals ultimately govern which heavy duty motor oils can be used in specific engines. Major engine builders such as Cummins, Detroit Diesel, Volvo, Mack, and PACCAR publish their own specifications that build on API categories with additional tests or limits tailored to their designs. Examples include Cummins CES 20086 for CK-4 oils and Detroit Diesel DFS 93K222 and 93K223 for CK-4 and FA-4 oils, respectively. These specifications often address issues such as piston deposit control, oxidation stability under specific test cycles, and compatibility with proprietary aftertreatment systems. OEM approvals are closely linked to drain interval recommendations. Modern heavy duty engines can support extended oil drain intervals compared with older designs, but only when approved oils are used and operating conditions are favorable. Public OEM guidance frequently emphasizes that extended drains should be validated through used oil analysis, which tracks parameters such as viscosity retention, soot loading, oxidation, and wear metals. Using an oil that lacks the required OEM approval can reduce allowable drain intervals, increase maintenance costs, or void engine warranties. In fleet environments, this creates a governance challenge: standardizing on a small number of oils simplifies logistics, but doing so must not conflict with OEM requirements across different engine models and years. As engines evolve to meet stricter emissions and efficiency targets, OEM specifications are becoming more nuanced, sometimes differentiating not only by API category but also by viscosity grade and application type. For a robust lubrication program, organizations must treat OEM approval management as a core part of their maintenance strategy rather than a secondary detail.
</a:t>
            </a:r>
          </a:p>
        </p:txBody>
      </p:sp>
      <p:sp>
        <p:nvSpPr>
          <p:cNvPr id="4" name="Slide Number Placeholder 3"/>
          <p:cNvSpPr>
            <a:spLocks noGrp="1"/>
          </p:cNvSpPr>
          <p:nvPr>
            <p:ph type="sldNum" sz="quarter" idx="5"/>
          </p:nvPr>
        </p:nvSpPr>
        <p:spPr/>
        <p:txBody>
          <a:bodyPr/>
          <a:lstStyle/>
          <a:p>
            <a:fld id="{403085E6-F8D6-4031-9275-018A5D6C567E}" type="slidenum">
              <a:t>9</a:t>
            </a:fld>
            <a:endParaRPr lang="en-US"/>
          </a:p>
        </p:txBody>
      </p:sp>
    </p:spTree>
    <p:extLst>
      <p:ext uri="{BB962C8B-B14F-4D97-AF65-F5344CB8AC3E}">
        <p14:creationId xmlns:p14="http://schemas.microsoft.com/office/powerpoint/2010/main" val="845602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https://www.castrol.com/en_us/united-states/home/products/commercial-vehicle/commercial-product-types/engine-oils.html,https://www.mobil.co.in/en-in/business/tips-and-tricks/maintaining-your-equipment/api-ck-4-and-fa-4/mobil-delvac-api-ck-4-and-fa-4-engine-oils
Additives, durability, and emerging efficiency trends
</a:t>
            </a:r>
          </a:p>
        </p:txBody>
      </p:sp>
      <p:sp>
        <p:nvSpPr>
          <p:cNvPr id="4" name="Slide Number Placeholder 3"/>
          <p:cNvSpPr>
            <a:spLocks noGrp="1"/>
          </p:cNvSpPr>
          <p:nvPr>
            <p:ph type="sldNum" sz="quarter" idx="5"/>
          </p:nvPr>
        </p:nvSpPr>
        <p:spPr/>
        <p:txBody>
          <a:bodyPr/>
          <a:lstStyle/>
          <a:p>
            <a:fld id="{403085E6-F8D6-4031-9275-018A5D6C567E}" type="slidenum">
              <a:t>10</a:t>
            </a:fld>
            <a:endParaRPr lang="en-US"/>
          </a:p>
        </p:txBody>
      </p:sp>
    </p:spTree>
    <p:extLst>
      <p:ext uri="{BB962C8B-B14F-4D97-AF65-F5344CB8AC3E}">
        <p14:creationId xmlns:p14="http://schemas.microsoft.com/office/powerpoint/2010/main" val="3478248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https://www.castrol.com/en_us/united-states/home/products/commercial-vehicle/commercial-product-types/engine-oils.html,https://www.mobil.co.in/en-in/business/tips-and-tricks/maintaining-your-equipment/api-ck-4-and-fa-4/mobil-delvac-api-ck-4-and-fa-4-engine-oils
The formulation of heavy duty motor oils reflects a continuous balancing act between durability, cleanliness, emissions compatibility, and efficiency. HDMOs typically contain higher levels of detergents and dispersants than passenger car oils to manage soot and prevent sludge formation during long operating cycles. Anti-wear additives, oxidation inhibitors, and shear-stable viscosity modifiers are critical to maintaining performance over extended drain intervals. Public product literature from major lubricant suppliers frequently highlights features such as improved oxidation resistance, enhanced soot handling, and long-drain capability validated through engine tests. At the same time, market and regulatory pressures are pushing formulations toward lower viscosity and improved efficiency. Greenhouse gas regulations and fuel economy targets encourage the adoption of oils that reduce frictional losses, which is a key driver behind FA-4 and lower-viscosity CK-4 products such as 10W-30. However, not all applications benefit equally from these trends. Severe-duty operations, high loads, and off-highway use may still favor higher-viscosity formulations to ensure adequate film strength. Another emerging consideration is compatibility with alternative fuels and mixed fleets, where oils must perform across diesel, natural gas, and hybrid operating profiles. As a result, formulation complexity is increasing, and lubricant selection is becoming more application-specific. For organizations evaluating unstructured technical content, these trends illustrate why documents such as product data sheets, OEM bulletins, and technical guides are rich sources of nuanced, context-dependent information that must be accurately ingested and retrieved.
</a:t>
            </a:r>
          </a:p>
        </p:txBody>
      </p:sp>
      <p:sp>
        <p:nvSpPr>
          <p:cNvPr id="4" name="Slide Number Placeholder 3"/>
          <p:cNvSpPr>
            <a:spLocks noGrp="1"/>
          </p:cNvSpPr>
          <p:nvPr>
            <p:ph type="sldNum" sz="quarter" idx="5"/>
          </p:nvPr>
        </p:nvSpPr>
        <p:spPr/>
        <p:txBody>
          <a:bodyPr/>
          <a:lstStyle/>
          <a:p>
            <a:fld id="{403085E6-F8D6-4031-9275-018A5D6C567E}" type="slidenum">
              <a:t>11</a:t>
            </a:fld>
            <a:endParaRPr lang="en-US"/>
          </a:p>
        </p:txBody>
      </p:sp>
    </p:spTree>
    <p:extLst>
      <p:ext uri="{BB962C8B-B14F-4D97-AF65-F5344CB8AC3E}">
        <p14:creationId xmlns:p14="http://schemas.microsoft.com/office/powerpoint/2010/main" val="4120422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https://dieseloilmatters.com/en/oil-guide/big-rig,https://fleetrabbit.com/blogs/post/fleet-manager-guide-choosing-engine-oil
Operational decision-making and risk management
</a:t>
            </a:r>
          </a:p>
        </p:txBody>
      </p:sp>
      <p:sp>
        <p:nvSpPr>
          <p:cNvPr id="4" name="Slide Number Placeholder 3"/>
          <p:cNvSpPr>
            <a:spLocks noGrp="1"/>
          </p:cNvSpPr>
          <p:nvPr>
            <p:ph type="sldNum" sz="quarter" idx="5"/>
          </p:nvPr>
        </p:nvSpPr>
        <p:spPr/>
        <p:txBody>
          <a:bodyPr/>
          <a:lstStyle/>
          <a:p>
            <a:fld id="{403085E6-F8D6-4031-9275-018A5D6C567E}" type="slidenum">
              <a:t>12</a:t>
            </a:fld>
            <a:endParaRPr lang="en-US"/>
          </a:p>
        </p:txBody>
      </p:sp>
    </p:spTree>
    <p:extLst>
      <p:ext uri="{BB962C8B-B14F-4D97-AF65-F5344CB8AC3E}">
        <p14:creationId xmlns:p14="http://schemas.microsoft.com/office/powerpoint/2010/main" val="2319060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https://dieseloilmatters.com/en/oil-guide/big-rig,https://fleetrabbit.com/blogs/post/fleet-manager-guide-choosing-engine-oil
In practical terms, heavy duty motor oil selection is an exercise in operational risk management as much as technical optimization. Fleet managers must decide whether the potential fuel economy gains of lower-viscosity or FA-4 oils justify the added complexity of segregating products by engine type and model year. Maintenance teams must ensure that technicians understand labeling, approvals, and the consequences of misapplication. From a data perspective, HDMO documentation spans specifications, bulletins, drain interval guides, and product data sheets, each containing tables, figures, and dense technical language. For an AI-driven ingestion and retrieval system, this domain provides an excellent testbed: questions such as “Which engines can use FA-4 10W-30?” or “What drain interval is allowed with a specific OEM-approved CK-4 oil?” require accurate extraction of structured and unstructured information. The heavy duty lubrication landscape also evolves continuously, with new standards, updated OEM approvals, and revised recommendations. Capturing this dynamism requires systems that can ingest heterogeneous documents, preserve context, and support traceable answers. As such, HDMO content is not only operationally important for fleets but also highly relevant for evaluating the robustness of document understanding pipelines in industrial and engineering settings.
</a:t>
            </a:r>
          </a:p>
        </p:txBody>
      </p:sp>
      <p:sp>
        <p:nvSpPr>
          <p:cNvPr id="4" name="Slide Number Placeholder 3"/>
          <p:cNvSpPr>
            <a:spLocks noGrp="1"/>
          </p:cNvSpPr>
          <p:nvPr>
            <p:ph type="sldNum" sz="quarter" idx="5"/>
          </p:nvPr>
        </p:nvSpPr>
        <p:spPr/>
        <p:txBody>
          <a:bodyPr/>
          <a:lstStyle/>
          <a:p>
            <a:fld id="{403085E6-F8D6-4031-9275-018A5D6C567E}" type="slidenum">
              <a:t>13</a:t>
            </a:fld>
            <a:endParaRPr lang="en-US"/>
          </a:p>
        </p:txBody>
      </p:sp>
    </p:spTree>
    <p:extLst>
      <p:ext uri="{BB962C8B-B14F-4D97-AF65-F5344CB8AC3E}">
        <p14:creationId xmlns:p14="http://schemas.microsoft.com/office/powerpoint/2010/main" val="16843571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606196"/>
            <a:ext cx="4352927" cy="114227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2" y="606196"/>
            <a:ext cx="4352927" cy="1142277"/>
          </a:xfrm>
        </p:spPr>
        <p:txBody>
          <a:bodyPr vert="horz" lIns="91440" tIns="45720" rIns="91440" bIns="45720" rtlCol="0" anchor="t">
            <a:normAutofit/>
          </a:bodyPr>
          <a:lstStyle>
            <a:lvl1pPr marL="0" indent="0" algn="r">
              <a:lnSpc>
                <a:spcPct val="120000"/>
              </a:lnSpc>
              <a:spcBef>
                <a:spcPts val="0"/>
              </a:spcBef>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59722DCF-3C86-4CA9-A79C-7A01DC917267}" type="datetime1">
              <a:rPr lang="en-US" smtClean="0"/>
              <a:t>6/3/2026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 y="2132520"/>
            <a:ext cx="10972800" cy="411588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9882729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92815CB-5A42-4381-B4B5-1F0A0AD684E0}"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5938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4840225"/>
            <a:ext cx="10963658" cy="799655"/>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5845175"/>
            <a:ext cx="10963658" cy="365125"/>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26D2EC77-EDF2-486F-BC40-B49DAB22DB64}" type="datetime1">
              <a:rPr lang="en-US" smtClean="0"/>
              <a:t>6/3/2026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1" y="647700"/>
            <a:ext cx="10972800" cy="3808477"/>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840508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30569" y="606195"/>
            <a:ext cx="4045735" cy="399859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30569" y="4870174"/>
            <a:ext cx="3755116" cy="1033669"/>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3464"/>
          </a:xfrm>
        </p:spPr>
        <p:txBody>
          <a:bodyPr anchor="ctr"/>
          <a:lstStyle>
            <a:lvl1pPr>
              <a:defRPr>
                <a:solidFill>
                  <a:schemeClr val="tx1"/>
                </a:solidFill>
                <a:effectLst/>
              </a:defRPr>
            </a:lvl1pPr>
          </a:lstStyle>
          <a:p>
            <a:fld id="{162E3648-85D4-4FD7-B855-79C521A61C61}" type="datetime1">
              <a:rPr lang="en-US" smtClean="0"/>
              <a:t>6/3/2026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3464"/>
          </a:xfrm>
        </p:spPr>
        <p:txBody>
          <a:bodyPr anchor="ctr"/>
          <a:lstStyle>
            <a:lvl1pPr algn="ctr">
              <a:defRPr/>
            </a:lvl1pPr>
          </a:lstStyle>
          <a:p>
            <a:pPr algn="ctr"/>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3464"/>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600" y="609600"/>
            <a:ext cx="6534582" cy="5638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solidFill>
                  <a:schemeClr val="bg1"/>
                </a:solidFill>
              </a:defRPr>
            </a:lvl1pPr>
          </a:lstStyle>
          <a:p>
            <a:r>
              <a:rPr lang="en-US"/>
              <a:t>   </a:t>
            </a:r>
          </a:p>
        </p:txBody>
      </p:sp>
    </p:spTree>
    <p:extLst>
      <p:ext uri="{BB962C8B-B14F-4D97-AF65-F5344CB8AC3E}">
        <p14:creationId xmlns:p14="http://schemas.microsoft.com/office/powerpoint/2010/main" val="32826960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anchor="ctr"/>
          <a:lstStyle>
            <a:lvl1pPr>
              <a:defRPr>
                <a:solidFill>
                  <a:schemeClr val="tx1"/>
                </a:solidFill>
                <a:effectLst/>
              </a:defRPr>
            </a:lvl1pPr>
          </a:lstStyle>
          <a:p>
            <a:fld id="{047E6C56-E35A-43C4-BAC8-C635905FE141}" type="datetime1">
              <a:rPr lang="en-US" smtClean="0"/>
              <a:t>6/3/2026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anchor="ct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101203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371600"/>
            <a:ext cx="3892269" cy="3276599"/>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032606"/>
            <a:ext cx="3177209" cy="871237"/>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111FFCFE-B194-4E5A-862C-339E8FEE7136}" type="datetime1">
              <a:rPr lang="en-US" smtClean="0"/>
              <a:t>6/3/2026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1371600"/>
            <a:ext cx="6470826"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7158620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371600"/>
            <a:ext cx="10049256" cy="3505200"/>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76800"/>
            <a:ext cx="7769354" cy="1371600"/>
          </a:xfrm>
        </p:spPr>
        <p:txBody>
          <a:bodyPr vert="horz" lIns="91440" tIns="45720" rIns="91440" bIns="45720" rtlCol="0" anchor="b">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1CEBACA-C806-48AD-B735-075EFFDC0FB5}" type="datetime1">
              <a:rPr lang="en-US" smtClean="0"/>
              <a:t>6/3/2026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402225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9140954" cy="2836729"/>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622197"/>
            <a:ext cx="7312153" cy="1014984"/>
          </a:xfrm>
        </p:spPr>
        <p:txBody>
          <a:bodyPr vert="horz" lIns="91440" tIns="45720" rIns="91440" bIns="45720" rtlCol="0">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6869"/>
          </a:xfrm>
        </p:spPr>
        <p:txBody>
          <a:bodyPr/>
          <a:lstStyle/>
          <a:p>
            <a:fld id="{28F25336-016D-4162-B545-E54B089028A6}" type="datetime1">
              <a:rPr lang="en-US" smtClean="0"/>
              <a:t>6/3/2026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7649"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1904" y="322731"/>
            <a:ext cx="914400" cy="286869"/>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785078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567855"/>
          </a:xfrm>
        </p:spPr>
        <p:txBody>
          <a:bodyPr anchor="b">
            <a:normAutofit/>
          </a:bodyPr>
          <a:lstStyle>
            <a:lvl1pPr algn="ctr">
              <a:defRPr sz="3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375642"/>
            <a:ext cx="7588155" cy="1029310"/>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CD4DBA1-4626-47FC-856E-159D7E28D490}" type="datetime1">
              <a:rPr lang="en-US" smtClean="0"/>
              <a:t>6/3/2026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20696"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259105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830729"/>
          </a:xfrm>
        </p:spPr>
        <p:txBody>
          <a:bodyPr vert="horz" lIns="91440" tIns="45720" rIns="91440" bIns="45720" rtlCol="0" anchor="b">
            <a:normAutofit/>
          </a:bodyPr>
          <a:lstStyle>
            <a:lvl1pPr>
              <a:defRPr lang="en-US" sz="3200" dirty="0">
                <a:solidFill>
                  <a:schemeClr val="tx1"/>
                </a:solidFill>
              </a:defRPr>
            </a:lvl1pPr>
          </a:lstStyle>
          <a:p>
            <a:pPr lvl="0"/>
            <a:r>
              <a:rPr lang="en-US"/>
              <a:t>Section Header</a:t>
            </a:r>
          </a:p>
        </p:txBody>
      </p:sp>
      <p:sp>
        <p:nvSpPr>
          <p:cNvPr id="3" name="Date Placeholder 2">
            <a:extLst>
              <a:ext uri="{FF2B5EF4-FFF2-40B4-BE49-F238E27FC236}">
                <a16:creationId xmlns:a16="http://schemas.microsoft.com/office/drawing/2014/main" id="{171F2818-3D93-3C9A-E504-3D8A33F2BA9D}"/>
              </a:ext>
            </a:extLst>
          </p:cNvPr>
          <p:cNvSpPr>
            <a:spLocks noGrp="1"/>
          </p:cNvSpPr>
          <p:nvPr>
            <p:ph type="dt" sz="half" idx="10"/>
          </p:nvPr>
        </p:nvSpPr>
        <p:spPr/>
        <p:txBody>
          <a:bodyPr/>
          <a:lstStyle/>
          <a:p>
            <a:fld id="{98E2C3C3-8EE0-4646-AF47-12E3116D59C3}" type="datetime1">
              <a:rPr lang="en-US" smtClean="0"/>
              <a:t>6/3/2026</a:t>
            </a:fld>
            <a:endParaRPr lang="en-US"/>
          </a:p>
        </p:txBody>
      </p:sp>
      <p:sp>
        <p:nvSpPr>
          <p:cNvPr id="7" name="Footer Placeholder 6">
            <a:extLst>
              <a:ext uri="{FF2B5EF4-FFF2-40B4-BE49-F238E27FC236}">
                <a16:creationId xmlns:a16="http://schemas.microsoft.com/office/drawing/2014/main" id="{40C970B7-D89D-4042-9AC8-32C22BDD29A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7A35D86-D074-E057-C950-943CC0E1CB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064275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8066" y="1371600"/>
            <a:ext cx="8470605" cy="1041436"/>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D252E1C-7EB3-405E-81B2-32E332CACA0F}" type="datetime1">
              <a:rPr lang="en-US" smtClean="0"/>
              <a:t>6/3/2026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 y="2797083"/>
            <a:ext cx="8470605" cy="3451317"/>
          </a:xfrm>
        </p:spPr>
        <p:txBody>
          <a:bodyP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268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59795" y="1371600"/>
            <a:ext cx="5916508" cy="1052105"/>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09601" y="322731"/>
            <a:ext cx="914400" cy="283464"/>
          </a:xfrm>
        </p:spPr>
        <p:txBody>
          <a:bodyPr/>
          <a:lstStyle/>
          <a:p>
            <a:fld id="{1FE93670-5DDA-427C-9657-21A216413B90}" type="datetime1">
              <a:rPr lang="en-US" smtClean="0"/>
              <a:t>6/3/2026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09600" y="1371599"/>
            <a:ext cx="4663806"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59796" y="2807753"/>
            <a:ext cx="5916507" cy="3440647"/>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9259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31" y="1371600"/>
            <a:ext cx="2441448" cy="4876800"/>
          </a:xfrm>
        </p:spPr>
        <p:txBody>
          <a:bodyPr anchor="t">
            <a:normAutofit/>
          </a:bodyPr>
          <a:lstStyle>
            <a:lvl1pPr>
              <a:defRPr sz="2400"/>
            </a:lvl1pPr>
          </a:lstStyle>
          <a:p>
            <a:r>
              <a:rPr lang="en-US"/>
              <a:t>Click to edit Master title style</a:t>
            </a:r>
          </a:p>
        </p:txBody>
      </p:sp>
      <p:sp>
        <p:nvSpPr>
          <p:cNvPr id="8" name="Date Placeholder 2">
            <a:extLst>
              <a:ext uri="{FF2B5EF4-FFF2-40B4-BE49-F238E27FC236}">
                <a16:creationId xmlns:a16="http://schemas.microsoft.com/office/drawing/2014/main" id="{4C796253-2EF8-E90A-A94F-8CFC6E39EE48}"/>
              </a:ext>
            </a:extLst>
          </p:cNvPr>
          <p:cNvSpPr>
            <a:spLocks noGrp="1"/>
          </p:cNvSpPr>
          <p:nvPr>
            <p:ph type="dt" sz="half" idx="10"/>
          </p:nvPr>
        </p:nvSpPr>
        <p:spPr>
          <a:xfrm>
            <a:off x="609601" y="322731"/>
            <a:ext cx="914400" cy="286869"/>
          </a:xfrm>
        </p:spPr>
        <p:txBody>
          <a:bodyPr/>
          <a:lstStyle/>
          <a:p>
            <a:fld id="{88F73B11-D0F5-4A08-A19E-C560E2C4116F}" type="datetime1">
              <a:rPr lang="en-US" smtClean="0"/>
              <a:t>6/3/2026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6869"/>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6869"/>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460625" y="1371599"/>
            <a:ext cx="5272821"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34856" y="1371600"/>
            <a:ext cx="2441448" cy="4876800"/>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4195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32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761C04-CC91-4AAF-9006-A3A27BF33173}"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58842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7892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43291" y="1373986"/>
            <a:ext cx="3493858" cy="3456894"/>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05EDACB-E986-4E04-ADB1-8913384D68D3}"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373986"/>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4737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C338E35-CB21-4D15-A87F-675D4C9EDCA4}"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22181" y="1389134"/>
            <a:ext cx="627922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8425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71600"/>
            <a:ext cx="3496147" cy="487680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71CA9EE-AFE9-47E0-9F22-915E0A45E5AF}"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872" y="1371600"/>
            <a:ext cx="7081431"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30540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3349754" cy="272145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7C504BF7-6B14-4333-B52B-ADBC1BCF47B5}"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43402" y="1371600"/>
            <a:ext cx="7232901"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76997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anchor="t">
            <a:normAutofit/>
          </a:bodyPr>
          <a:lstStyle>
            <a:lvl1pPr>
              <a:defRPr sz="2400"/>
            </a:lvl1pPr>
          </a:lstStyle>
          <a:p>
            <a:r>
              <a:rPr lang="en-US"/>
              <a:t>Click to edit Master title style</a:t>
            </a:r>
          </a:p>
        </p:txBody>
      </p:sp>
      <p:sp>
        <p:nvSpPr>
          <p:cNvPr id="7" name="Subtitle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C1C21BA4-3737-442B-A21A-11EEBBB51C57}"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85441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50289" y="1371601"/>
            <a:ext cx="6632111" cy="60688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609600" y="322731"/>
            <a:ext cx="914400" cy="283464"/>
          </a:xfrm>
        </p:spPr>
        <p:txBody>
          <a:bodyPr/>
          <a:lstStyle/>
          <a:p>
            <a:fld id="{8EF3DE08-A0D1-4FD8-A862-5499266B124D}" type="datetime1">
              <a:rPr lang="en-US" smtClean="0"/>
              <a:t>6/3/2026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661904" y="322731"/>
            <a:ext cx="914400" cy="283464"/>
          </a:xfrm>
        </p:spPr>
        <p:txBody>
          <a:bodyP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0960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50290" y="2362534"/>
            <a:ext cx="6626014" cy="3901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6640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anchor="t"/>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a:lstStyle/>
          <a:p>
            <a:fld id="{6C5A15EF-D72C-40D5-8663-2C77F9B42EC1}" type="datetime1">
              <a:rPr lang="en-US" smtClean="0"/>
              <a:t>6/3/2026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56021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0118" y="1371600"/>
            <a:ext cx="7172282" cy="60688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609600" y="322731"/>
            <a:ext cx="914400" cy="283464"/>
          </a:xfrm>
        </p:spPr>
        <p:txBody>
          <a:bodyPr/>
          <a:lstStyle/>
          <a:p>
            <a:fld id="{D56F8A71-DDE0-43CA-81C3-EA9C4963E6AE}" type="datetime1">
              <a:rPr lang="en-US" smtClean="0"/>
              <a:t>6/3/2026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10118" y="2362534"/>
            <a:ext cx="7172282"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74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E525A034-19B5-40C2-A08C-916D805B8A45}"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96282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4077" y="1371599"/>
            <a:ext cx="4667987" cy="606887"/>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ADD95619-B63B-77E6-BE04-262FAAD12CB4}"/>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2C5EE04-1B51-44BB-A7D3-16AEE79C4983}"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6805" y="2362535"/>
            <a:ext cx="4675596"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80319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anchor="t">
            <a:normAutofit/>
          </a:bodyPr>
          <a:lstStyle>
            <a:lvl1pPr>
              <a:defRPr sz="2400"/>
            </a:lvl1pPr>
          </a:lstStyle>
          <a:p>
            <a:r>
              <a:rPr lang="en-US"/>
              <a:t>Click to edit Master title style</a:t>
            </a:r>
          </a:p>
        </p:txBody>
      </p:sp>
      <p:sp>
        <p:nvSpPr>
          <p:cNvPr id="10" name="Date Placeholder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a:lstStyle>
            <a:lvl1pPr>
              <a:defRPr>
                <a:solidFill>
                  <a:schemeClr val="tx1"/>
                </a:solidFill>
              </a:defRPr>
            </a:lvl1pPr>
          </a:lstStyle>
          <a:p>
            <a:fld id="{E79D7598-9667-4FA1-B20E-133F7DF30C66}"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lvl1pPr>
              <a:defRPr>
                <a:solidFill>
                  <a:schemeClr val="tx1"/>
                </a:solidFill>
                <a:effectLs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9745951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1371599"/>
            <a:ext cx="3363514" cy="914401"/>
          </a:xfrm>
        </p:spPr>
        <p:txBody>
          <a:bodyPr anchor="t">
            <a:normAutofit/>
          </a:bodyPr>
          <a:lstStyle>
            <a:lvl1pPr>
              <a:defRPr sz="2400"/>
            </a:lvl1pPr>
          </a:lstStyle>
          <a:p>
            <a:r>
              <a:rPr lang="en-US"/>
              <a:t>Click to edit Master title style</a:t>
            </a:r>
          </a:p>
        </p:txBody>
      </p:sp>
      <p:sp>
        <p:nvSpPr>
          <p:cNvPr id="6" name="Date Placeholder 3">
            <a:extLst>
              <a:ext uri="{FF2B5EF4-FFF2-40B4-BE49-F238E27FC236}">
                <a16:creationId xmlns:a16="http://schemas.microsoft.com/office/drawing/2014/main" id="{CBA07C19-A01D-B0B9-930B-9E9E7D2E653C}"/>
              </a:ext>
            </a:extLst>
          </p:cNvPr>
          <p:cNvSpPr>
            <a:spLocks noGrp="1"/>
          </p:cNvSpPr>
          <p:nvPr>
            <p:ph type="dt" sz="half" idx="15"/>
          </p:nvPr>
        </p:nvSpPr>
        <p:spPr>
          <a:xfrm>
            <a:off x="609600" y="322731"/>
            <a:ext cx="914400" cy="283464"/>
          </a:xfrm>
        </p:spPr>
        <p:txBody>
          <a:bodyPr/>
          <a:lstStyle/>
          <a:p>
            <a:fld id="{E0F4D2D3-E754-452C-996E-A69280848F28}" type="datetime1">
              <a:rPr lang="en-US" smtClean="0"/>
              <a:t>6/3/2026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903"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8887" y="2670047"/>
            <a:ext cx="3363513"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84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a:lstStyle/>
          <a:p>
            <a:fld id="{17A20D89-EAE3-437D-A562-62F383E1F1E4}" type="datetime1">
              <a:rPr lang="en-US" smtClean="0"/>
              <a:t>6/3/2026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5558578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1371600"/>
            <a:ext cx="2699254" cy="1836503"/>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481F196-B1D0-4451-BD57-0DCCBF9A6C9D}"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1"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5697"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3147" y="3592150"/>
            <a:ext cx="2699254"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38855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E2505D57-3CC9-48CD-A7D7-2BE3E605D0A5}"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8833132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7"/>
            <a:ext cx="4019522" cy="1236133"/>
          </a:xfrm>
        </p:spPr>
        <p:txBody>
          <a:bodyPr anchor="t">
            <a:normAutofit/>
          </a:bodyPr>
          <a:lstStyle>
            <a:lvl1pPr>
              <a:defRPr sz="2400"/>
            </a:lvl1pPr>
          </a:lstStyle>
          <a:p>
            <a:r>
              <a:rPr lang="en-US"/>
              <a:t>Click to edit Master title style</a:t>
            </a:r>
          </a:p>
        </p:txBody>
      </p:sp>
      <p:sp>
        <p:nvSpPr>
          <p:cNvPr id="12" name="Date Placeholder 4">
            <a:extLst>
              <a:ext uri="{FF2B5EF4-FFF2-40B4-BE49-F238E27FC236}">
                <a16:creationId xmlns:a16="http://schemas.microsoft.com/office/drawing/2014/main" id="{2D9E4C7C-63E4-6DA5-5108-15D4DA6D0607}"/>
              </a:ext>
            </a:extLst>
          </p:cNvPr>
          <p:cNvSpPr>
            <a:spLocks noGrp="1"/>
          </p:cNvSpPr>
          <p:nvPr>
            <p:ph type="dt" sz="half" idx="10"/>
          </p:nvPr>
        </p:nvSpPr>
        <p:spPr>
          <a:xfrm>
            <a:off x="609600" y="322731"/>
            <a:ext cx="914400" cy="286869"/>
          </a:xfrm>
        </p:spPr>
        <p:txBody>
          <a:bodyPr/>
          <a:lstStyle/>
          <a:p>
            <a:fld id="{3F2E167B-0B78-4B36-8A57-49085AADF134}"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3256619"/>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018927" y="5012267"/>
            <a:ext cx="6563474" cy="123613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64685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205330"/>
            <a:ext cx="3044954" cy="2019586"/>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E59D63EA-A363-194D-0D29-EB63BC89E3E3}"/>
              </a:ext>
            </a:extLst>
          </p:cNvPr>
          <p:cNvSpPr>
            <a:spLocks noGrp="1"/>
          </p:cNvSpPr>
          <p:nvPr>
            <p:ph type="dt" sz="half" idx="10"/>
          </p:nvPr>
        </p:nvSpPr>
        <p:spPr>
          <a:xfrm>
            <a:off x="609600" y="322731"/>
            <a:ext cx="914400" cy="286869"/>
          </a:xfrm>
        </p:spPr>
        <p:txBody>
          <a:bodyPr/>
          <a:lstStyle/>
          <a:p>
            <a:fld id="{B9462E82-6E33-4AEF-AE7B-DF7C6F462D56}"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244968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44358" y="4205331"/>
            <a:ext cx="7538041" cy="201958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96075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90892"/>
            <a:ext cx="3021873" cy="1773540"/>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p>
            <a:fld id="{83BF6E84-C156-49F4-8E82-3F8A64544B22}"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1390891"/>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09599" y="4127577"/>
            <a:ext cx="10972801" cy="212082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1488280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9"/>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001F9C0A-11C5-40F2-BD0E-27AA70E2625D}"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2"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512485"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14159371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60"/>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9CDFB84F-677F-480D-99C2-22BB3A82E4AD}"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7999"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931835"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31240" y="2501206"/>
            <a:ext cx="5651159" cy="374719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3556634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1C640349-FC90-47D1-9F46-4D34EA792223}"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4" name="Content Placeholder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80559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92961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71600"/>
            <a:ext cx="3425954" cy="91745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5669B-9B51-4A21-90C8-BB2E110B3FD6}"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1" y="2673096"/>
            <a:ext cx="3429000" cy="357530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25359" y="1371600"/>
            <a:ext cx="715227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761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524A6D49-9F84-4D2B-BCDD-C2F0AED64BFE}"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ancho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6502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275F2D28-3585-40CA-9EB9-F9971C1AA1E0}" type="datetime1">
              <a:rPr lang="en-US" smtClean="0"/>
              <a:t>6/3/2026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anchor="b"/>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0769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325034"/>
            <a:ext cx="9762068" cy="916369"/>
          </a:xfrm>
        </p:spPr>
        <p:txBody>
          <a:bodyPr anchor="b">
            <a:normAutofit/>
          </a:bodyPr>
          <a:lstStyle>
            <a:lvl1pPr algn="ctr">
              <a:lnSpc>
                <a:spcPct val="110000"/>
              </a:lnSpc>
              <a:defRPr sz="2400" b="1" i="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E73000B7-56E6-4A26-8487-963BD31161AF}" type="datetime1">
              <a:rPr lang="en-US" smtClean="0"/>
              <a:t>6/3/2026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09600" y="914400"/>
            <a:ext cx="10972800" cy="4105835"/>
          </a:xfrm>
        </p:spPr>
        <p:txBody>
          <a:bodyPr anchor="t">
            <a:normAutofit/>
          </a:bodyPr>
          <a:lstStyle>
            <a:lvl1pPr marL="0" indent="0" algn="ctr">
              <a:lnSpc>
                <a:spcPct val="90000"/>
              </a:lnSpc>
              <a:buNone/>
              <a:defRPr sz="27500" b="0">
                <a:solidFill>
                  <a:schemeClr val="tx1"/>
                </a:solidFill>
                <a:latin typeface="+mj-lt"/>
              </a:defRPr>
            </a:lvl1pPr>
          </a:lstStyle>
          <a:p>
            <a:pPr lvl="0"/>
            <a:r>
              <a:rPr lang="en-US"/>
              <a:t>##%</a:t>
            </a:r>
          </a:p>
        </p:txBody>
      </p:sp>
    </p:spTree>
    <p:extLst>
      <p:ext uri="{BB962C8B-B14F-4D97-AF65-F5344CB8AC3E}">
        <p14:creationId xmlns:p14="http://schemas.microsoft.com/office/powerpoint/2010/main" val="31913592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a:lstStyle>
            <a:lvl1pPr>
              <a:lnSpc>
                <a:spcPct val="110000"/>
              </a:lnSpc>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6C671BD4-4E81-464B-A994-00077AEC80C3}" type="datetime1">
              <a:rPr lang="en-US" smtClean="0"/>
              <a:t>6/3/2026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11" name="Content Placeholder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anchor="t"/>
          <a:lstStyle>
            <a:lvl1pPr>
              <a:lnSpc>
                <a:spcPct val="90000"/>
              </a:lnSpc>
              <a:buNone/>
              <a:defRPr sz="30000"/>
            </a:lvl1pPr>
          </a:lstStyle>
          <a:p>
            <a:pPr lvl="0"/>
            <a:r>
              <a:rPr lang="en-US"/>
              <a:t>##%</a:t>
            </a:r>
          </a:p>
        </p:txBody>
      </p:sp>
    </p:spTree>
    <p:extLst>
      <p:ext uri="{BB962C8B-B14F-4D97-AF65-F5344CB8AC3E}">
        <p14:creationId xmlns:p14="http://schemas.microsoft.com/office/powerpoint/2010/main" val="21694322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78216DC3-F1E3-4679-A7A7-118C827BFDD8}" type="datetime1">
              <a:rPr lang="en-US" smtClean="0"/>
              <a:t>6/3/2026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8" name="Content Placeholder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anchor="t"/>
          <a:lstStyle>
            <a:lvl1pPr>
              <a:lnSpc>
                <a:spcPct val="90000"/>
              </a:lnSpc>
              <a:buNone/>
              <a:defRPr sz="27500"/>
            </a:lvl1pPr>
          </a:lstStyle>
          <a:p>
            <a:pPr lvl="0"/>
            <a:r>
              <a:rPr lang="en-US"/>
              <a:t>##%</a:t>
            </a:r>
          </a:p>
        </p:txBody>
      </p:sp>
    </p:spTree>
    <p:extLst>
      <p:ext uri="{BB962C8B-B14F-4D97-AF65-F5344CB8AC3E}">
        <p14:creationId xmlns:p14="http://schemas.microsoft.com/office/powerpoint/2010/main" val="9111520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latin typeface="+mn-lt"/>
              </a:defRPr>
            </a:lvl1pPr>
          </a:lstStyle>
          <a:p>
            <a:fld id="{2D412A9A-F88E-45C5-903F-2119D36A77A2}" type="datetime1">
              <a:rPr lang="en-US" smtClean="0"/>
              <a:t>6/3/2026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1371600"/>
            <a:ext cx="10972800" cy="4876800"/>
          </a:xfrm>
        </p:spPr>
        <p:txBody>
          <a:bodyPr anchor="t">
            <a:normAutofit/>
          </a:bodyPr>
          <a:lstStyle>
            <a:lvl1pPr marL="0" indent="0">
              <a:lnSpc>
                <a:spcPct val="90000"/>
              </a:lnSpc>
              <a:buNone/>
              <a:defRPr sz="3200" b="1" cap="all" baseline="0">
                <a:solidFill>
                  <a:schemeClr val="tx1"/>
                </a:solidFill>
                <a:latin typeface="+mj-lt"/>
              </a:defRPr>
            </a:lvl1pPr>
            <a:lvl2pPr marL="228600" indent="0">
              <a:lnSpc>
                <a:spcPct val="90000"/>
              </a:lnSpc>
              <a:buNone/>
              <a:defRPr sz="3200" b="1" cap="all" baseline="0">
                <a:solidFill>
                  <a:schemeClr val="tx1"/>
                </a:solidFill>
                <a:latin typeface="+mj-lt"/>
              </a:defRPr>
            </a:lvl2pPr>
            <a:lvl3pPr marL="457200" indent="0">
              <a:lnSpc>
                <a:spcPct val="90000"/>
              </a:lnSpc>
              <a:buNone/>
              <a:defRPr sz="3200" b="1" cap="all" baseline="0">
                <a:solidFill>
                  <a:schemeClr val="tx1"/>
                </a:solidFill>
                <a:latin typeface="+mj-lt"/>
              </a:defRPr>
            </a:lvl3pPr>
            <a:lvl4pPr marL="685800" indent="0">
              <a:lnSpc>
                <a:spcPct val="90000"/>
              </a:lnSpc>
              <a:buNone/>
              <a:defRPr sz="3200" b="1" cap="all" baseline="0">
                <a:solidFill>
                  <a:schemeClr val="tx1"/>
                </a:solidFill>
                <a:latin typeface="+mj-lt"/>
              </a:defRPr>
            </a:lvl4pPr>
            <a:lvl5pPr marL="914400" indent="0">
              <a:lnSpc>
                <a:spcPct val="90000"/>
              </a:lnSpc>
              <a:buNone/>
              <a:defRPr sz="32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65823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CC9AC46E-311C-49B6-8A0E-D2095F2328AF}" type="datetime1">
              <a:rPr lang="en-US" smtClean="0"/>
              <a:t>6/3/2026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nSpc>
                <a:spcPct val="90000"/>
              </a:lnSpc>
              <a:buNone/>
              <a:defRPr sz="2400" b="1" cap="all" baseline="0">
                <a:solidFill>
                  <a:schemeClr val="tx1"/>
                </a:solidFill>
                <a:latin typeface="+mj-lt"/>
              </a:defRPr>
            </a:lvl1pPr>
            <a:lvl2pPr marL="228600" indent="0">
              <a:lnSpc>
                <a:spcPct val="90000"/>
              </a:lnSpc>
              <a:buNone/>
              <a:defRPr sz="2400" b="1" cap="all" baseline="0">
                <a:solidFill>
                  <a:schemeClr val="tx1"/>
                </a:solidFill>
                <a:latin typeface="+mj-lt"/>
              </a:defRPr>
            </a:lvl2pPr>
            <a:lvl3pPr marL="457200" indent="0">
              <a:lnSpc>
                <a:spcPct val="90000"/>
              </a:lnSpc>
              <a:buNone/>
              <a:defRPr sz="2400" b="1" cap="all" baseline="0">
                <a:solidFill>
                  <a:schemeClr val="tx1"/>
                </a:solidFill>
                <a:latin typeface="+mj-lt"/>
              </a:defRPr>
            </a:lvl3pPr>
            <a:lvl4pPr marL="685800" indent="0">
              <a:lnSpc>
                <a:spcPct val="90000"/>
              </a:lnSpc>
              <a:buNone/>
              <a:defRPr sz="2400" b="1" cap="all" baseline="0">
                <a:solidFill>
                  <a:schemeClr val="tx1"/>
                </a:solidFill>
                <a:latin typeface="+mj-lt"/>
              </a:defRPr>
            </a:lvl4pPr>
            <a:lvl5pPr marL="914400" indent="0">
              <a:lnSpc>
                <a:spcPct val="90000"/>
              </a:lnSpc>
              <a:buNone/>
              <a:defRPr sz="24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67854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C4F10A1-07E0-4636-B3BE-AE66FBE8467A}" type="datetime1">
              <a:rPr lang="en-US" smtClean="0"/>
              <a:t>6/3/2026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gn="ctr">
              <a:lnSpc>
                <a:spcPct val="90000"/>
              </a:lnSpc>
              <a:buNone/>
              <a:defRPr sz="3600" b="1" cap="all" baseline="0">
                <a:solidFill>
                  <a:schemeClr val="tx1"/>
                </a:solidFill>
                <a:latin typeface="+mj-lt"/>
              </a:defRPr>
            </a:lvl1pPr>
            <a:lvl2pPr marL="228600" indent="0" algn="ctr">
              <a:lnSpc>
                <a:spcPct val="90000"/>
              </a:lnSpc>
              <a:buNone/>
              <a:defRPr sz="3600" b="1" cap="all" baseline="0">
                <a:solidFill>
                  <a:schemeClr val="tx1"/>
                </a:solidFill>
                <a:latin typeface="+mj-lt"/>
              </a:defRPr>
            </a:lvl2pPr>
            <a:lvl3pPr marL="457200" indent="0" algn="ctr">
              <a:lnSpc>
                <a:spcPct val="90000"/>
              </a:lnSpc>
              <a:buNone/>
              <a:defRPr sz="3600" b="1" cap="all" baseline="0">
                <a:solidFill>
                  <a:schemeClr val="tx1"/>
                </a:solidFill>
                <a:latin typeface="+mj-lt"/>
              </a:defRPr>
            </a:lvl3pPr>
            <a:lvl4pPr marL="685800" indent="0" algn="ctr">
              <a:lnSpc>
                <a:spcPct val="90000"/>
              </a:lnSpc>
              <a:buNone/>
              <a:defRPr sz="3600" b="1" cap="all" baseline="0">
                <a:solidFill>
                  <a:schemeClr val="tx1"/>
                </a:solidFill>
                <a:latin typeface="+mj-lt"/>
              </a:defRPr>
            </a:lvl4pPr>
            <a:lvl5pPr marL="914400" indent="0" algn="ctr">
              <a:lnSpc>
                <a:spcPct val="90000"/>
              </a:lnSpc>
              <a:buNone/>
              <a:defRPr sz="36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6425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9600" y="5572631"/>
            <a:ext cx="10966704" cy="640080"/>
          </a:xfrm>
        </p:spPr>
        <p:txBody>
          <a:bodyPr anchor="b">
            <a:normAutofit/>
          </a:bodyPr>
          <a:lstStyle>
            <a:lvl1pP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567E4DBA-3642-44F7-A1E0-3D9BCA1A53C6}" type="datetime1">
              <a:rPr lang="en-US" smtClean="0"/>
              <a:t>6/3/2026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371600"/>
            <a:ext cx="10966704" cy="3806142"/>
          </a:xfrm>
        </p:spPr>
        <p:txBody>
          <a:bodyPr anchor="t">
            <a:normAutofit/>
          </a:bodyPr>
          <a:lstStyle>
            <a:lvl1pPr marL="164592" indent="-164592">
              <a:lnSpc>
                <a:spcPct val="100000"/>
              </a:lnSpc>
              <a:spcBef>
                <a:spcPts val="0"/>
              </a:spcBef>
              <a:buNone/>
              <a:defRPr sz="3200">
                <a:latin typeface="+mj-lt"/>
              </a:defRPr>
            </a:lvl1pPr>
          </a:lstStyle>
          <a:p>
            <a:pPr lvl="0"/>
            <a:r>
              <a:rPr lang="en-US"/>
              <a:t>Click to add Quote</a:t>
            </a:r>
          </a:p>
        </p:txBody>
      </p:sp>
    </p:spTree>
    <p:extLst>
      <p:ext uri="{BB962C8B-B14F-4D97-AF65-F5344CB8AC3E}">
        <p14:creationId xmlns:p14="http://schemas.microsoft.com/office/powerpoint/2010/main" val="2346619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24000" y="5561790"/>
            <a:ext cx="9137903" cy="686610"/>
          </a:xfrm>
        </p:spPr>
        <p:txBody>
          <a:bodyPr anchor="b">
            <a:normAutofit/>
          </a:bodyPr>
          <a:lstStyle>
            <a:lvl1pPr algn="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latin typeface="+mn-lt"/>
              </a:defRPr>
            </a:lvl1pPr>
          </a:lstStyle>
          <a:p>
            <a:fld id="{5F8CD485-684D-4C35-BDF2-D991DF8FFCA1}" type="datetime1">
              <a:rPr lang="en-US" smtClean="0"/>
              <a:t>6/3/2026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71600"/>
            <a:ext cx="9144000" cy="3806142"/>
          </a:xfrm>
        </p:spPr>
        <p:txBody>
          <a:bodyPr anchor="ctr">
            <a:normAutofit/>
          </a:bodyPr>
          <a:lstStyle>
            <a:lvl1pPr marL="164592" indent="-164592">
              <a:lnSpc>
                <a:spcPct val="100000"/>
              </a:lnSpc>
              <a:spcBef>
                <a:spcPts val="0"/>
              </a:spcBef>
              <a:buNone/>
              <a:defRPr sz="320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18783505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561790"/>
            <a:ext cx="5954436" cy="686610"/>
          </a:xfrm>
        </p:spPr>
        <p:txBody>
          <a:bodyPr anchor="b">
            <a:normAutofit/>
          </a:bodyPr>
          <a:lstStyle>
            <a:lvl1pPr algn="r">
              <a:lnSpc>
                <a:spcPct val="120000"/>
              </a:lnSpc>
              <a:defRPr sz="2000" b="1"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3CE2A531-A855-4FC2-83C9-7F8A2FC0A7A9}" type="datetime1">
              <a:rPr lang="en-US" smtClean="0"/>
              <a:t>6/3/2026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88534"/>
            <a:ext cx="9137904" cy="3789208"/>
          </a:xfrm>
        </p:spPr>
        <p:txBody>
          <a:bodyPr anchor="t">
            <a:normAutofit/>
          </a:bodyPr>
          <a:lstStyle>
            <a:lvl1pPr marL="164592" indent="-164592">
              <a:lnSpc>
                <a:spcPct val="110000"/>
              </a:lnSpc>
              <a:spcBef>
                <a:spcPts val="0"/>
              </a:spcBef>
              <a:buNone/>
              <a:defRPr sz="3200" b="1" i="0" cap="all" baseline="0">
                <a:latin typeface="+mj-lt"/>
              </a:defRPr>
            </a:lvl1pPr>
          </a:lstStyle>
          <a:p>
            <a:pPr lvl="0"/>
            <a:r>
              <a:rPr lang="en-US"/>
              <a:t>Click to add Quote</a:t>
            </a:r>
          </a:p>
        </p:txBody>
      </p:sp>
    </p:spTree>
    <p:extLst>
      <p:ext uri="{BB962C8B-B14F-4D97-AF65-F5344CB8AC3E}">
        <p14:creationId xmlns:p14="http://schemas.microsoft.com/office/powerpoint/2010/main" val="27110322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F101B9D-4D4C-40F1-8133-7CADC817E0C1}" type="datetime1">
              <a:rPr lang="en-US" smtClean="0"/>
              <a:t>6/3/2026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91999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5FF4366-C1D4-4687-A56C-18AD97870CFF}" type="datetime1">
              <a:rPr lang="en-US" smtClean="0"/>
              <a:t>6/3/2026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46718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1371600"/>
            <a:ext cx="10963656" cy="7455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5260159-51DF-49CB-B647-76DC93F9005D}" type="datetime1">
              <a:rPr lang="en-US" smtClean="0"/>
              <a:t>6/3/2026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006859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90B478A-2183-4725-BFFE-F5022B99B7BE}" type="datetime1">
              <a:rPr lang="en-US" smtClean="0"/>
              <a:t>6/3/2026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218506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7" y="1371600"/>
            <a:ext cx="3801195" cy="12192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9407116-79D5-4961-A943-953BCFEA97DD}" type="datetime1">
              <a:rPr lang="en-US" smtClean="0"/>
              <a:t>6/3/2026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7" y="2974848"/>
            <a:ext cx="3801195" cy="3273552"/>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1371600"/>
            <a:ext cx="6774366" cy="4876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12985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1371600"/>
            <a:ext cx="3595634" cy="3124200"/>
          </a:xfrm>
        </p:spPr>
        <p:txBody>
          <a:bodyPr anchor="b">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55BE2D-D64B-4B05-B6D8-FA0500749FF9}" type="datetime1">
              <a:rPr lang="en-US" smtClean="0"/>
              <a:t>6/3/2026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4800600"/>
            <a:ext cx="3595634" cy="1460174"/>
          </a:xfrm>
        </p:spPr>
        <p:txBody>
          <a:bodyPr anchor="b"/>
          <a:lstStyle>
            <a:lvl1pPr marL="0" indent="0">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584991" y="1371600"/>
            <a:ext cx="6997410" cy="4876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18154697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71600"/>
            <a:ext cx="10972800" cy="1865376"/>
          </a:xfrm>
        </p:spPr>
        <p:txBody>
          <a:bodyPr anchor="b">
            <a:norm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ABD5A60-72B7-4332-B4B3-40B2CC6142CE}"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621024"/>
            <a:ext cx="10972800" cy="2627376"/>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6966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t">
            <a:no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E2B004-0AA0-4203-BDB3-16A698CB99F9}" type="datetime1">
              <a:rPr lang="en-US" smtClean="0"/>
              <a:t>6/3/2026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870748"/>
            <a:ext cx="8430639" cy="1608008"/>
          </a:xfr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08957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09600" y="1381760"/>
            <a:ext cx="10972799" cy="735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2501206"/>
            <a:ext cx="10966703" cy="3722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09600" y="322731"/>
            <a:ext cx="914400" cy="286869"/>
          </a:xfrm>
          <a:prstGeom prst="rect">
            <a:avLst/>
          </a:prstGeom>
        </p:spPr>
        <p:txBody>
          <a:bodyPr vert="horz" lIns="91440" tIns="45720" rIns="91440" bIns="45720" rtlCol="0" anchor="ctr"/>
          <a:lstStyle>
            <a:lvl1pPr algn="l" rtl="0">
              <a:defRPr sz="1000" b="0" i="0" cap="all" baseline="0">
                <a:solidFill>
                  <a:schemeClr val="tx1"/>
                </a:solidFill>
                <a:latin typeface="+mn-lt"/>
              </a:defRPr>
            </a:lvl1pPr>
          </a:lstStyle>
          <a:p>
            <a:fld id="{135AEAE7-3C36-4273-AC18-E54349BDD515}" type="datetime1">
              <a:rPr lang="en-US" smtClean="0"/>
              <a:t>6/3/2026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517648" y="322731"/>
            <a:ext cx="7150608" cy="286869"/>
          </a:xfrm>
          <a:prstGeom prst="rect">
            <a:avLst/>
          </a:prstGeom>
        </p:spPr>
        <p:txBody>
          <a:bodyPr vert="horz" lIns="91440" tIns="45720" rIns="91440" bIns="45720" rtlCol="0" anchor="ctr"/>
          <a:lstStyle>
            <a:lvl1pPr algn="ctr" rtl="0">
              <a:defRPr sz="1000" b="0" i="0" cap="all"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661904" y="322731"/>
            <a:ext cx="914400" cy="286869"/>
          </a:xfrm>
          <a:prstGeom prst="rect">
            <a:avLst/>
          </a:prstGeom>
        </p:spPr>
        <p:txBody>
          <a:bodyPr vert="horz" lIns="91440" tIns="45720" rIns="91440" bIns="45720" rtlCol="0" anchor="ctr"/>
          <a:lstStyle>
            <a:lvl1pPr algn="r" rtl="0">
              <a:defRPr sz="1000" b="0" i="0" cap="all" baseline="0">
                <a:solidFill>
                  <a:schemeClr val="tx1"/>
                </a:solidFill>
                <a:latin typeface="+mn-lt"/>
              </a:defRPr>
            </a:lvl1pPr>
          </a:lstStyle>
          <a:p>
            <a:fld id="{AEAA3239-9EA4-4A65-A281-97F994456D9F}" type="slidenum">
              <a:rPr lang="en-US" smtClean="0"/>
              <a:pPr/>
              <a:t>‹#›</a:t>
            </a:fld>
            <a:endParaRPr lang="en-US"/>
          </a:p>
        </p:txBody>
      </p:sp>
      <p:sp>
        <p:nvSpPr>
          <p:cNvPr id="8" name="TextBox 7">
            <a:extLst>
              <a:ext uri="{FF2B5EF4-FFF2-40B4-BE49-F238E27FC236}">
                <a16:creationId xmlns:a16="http://schemas.microsoft.com/office/drawing/2014/main" id="{93074FF2-EDD7-9A8A-EA41-E6EE81460AA9}"/>
              </a:ext>
            </a:extLst>
          </p:cNvPr>
          <p:cNvSpPr txBox="1"/>
          <p:nvPr userDrawn="1">
            <p:extLst>
              <p:ext uri="{1162E1C5-73C7-4A58-AE30-91384D911F3F}">
                <p184:classification xmlns:p184="http://schemas.microsoft.com/office/powerpoint/2018/4/main" val="ftr"/>
              </p:ext>
            </p:extLst>
          </p:nvPr>
        </p:nvSpPr>
        <p:spPr>
          <a:xfrm>
            <a:off x="63500" y="6642100"/>
            <a:ext cx="1431925"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Classified as Confidential</a:t>
            </a:r>
          </a:p>
        </p:txBody>
      </p:sp>
    </p:spTree>
    <p:extLst>
      <p:ext uri="{BB962C8B-B14F-4D97-AF65-F5344CB8AC3E}">
        <p14:creationId xmlns:p14="http://schemas.microsoft.com/office/powerpoint/2010/main" val="77321829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sldNum="0" hdr="0" ftr="0" dt="0"/>
  <p:txStyles>
    <p:titleStyle>
      <a:lvl1pPr algn="l" defTabSz="914400" rtl="0" eaLnBrk="1" latinLnBrk="0" hangingPunct="1">
        <a:lnSpc>
          <a:spcPct val="80000"/>
        </a:lnSpc>
        <a:spcBef>
          <a:spcPct val="0"/>
        </a:spcBef>
        <a:buNone/>
        <a:defRPr sz="2400" b="1" i="0" kern="1200" cap="all"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cap="none" baseline="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orient="horz" pos="192" userDrawn="1">
          <p15:clr>
            <a:srgbClr val="F26B43"/>
          </p15:clr>
        </p15:guide>
        <p15:guide id="28" orient="horz" pos="3936" userDrawn="1">
          <p15:clr>
            <a:srgbClr val="F26B43"/>
          </p15:clr>
        </p15:guide>
        <p15:guide id="29" orient="horz" pos="384" userDrawn="1">
          <p15:clr>
            <a:srgbClr val="F26B43"/>
          </p15:clr>
        </p15:guide>
        <p15:guide id="30" orient="horz" pos="4128" userDrawn="1">
          <p15:clr>
            <a:srgbClr val="F26B43"/>
          </p15:clr>
        </p15:guide>
        <p15:guide id="31" orient="horz" pos="864" userDrawn="1">
          <p15:clr>
            <a:srgbClr val="F26B43"/>
          </p15:clr>
        </p15:guide>
        <p15:guide id="32" pos="6720" userDrawn="1">
          <p15:clr>
            <a:srgbClr val="F26B43"/>
          </p15:clr>
        </p15:guide>
        <p15:guide id="33" pos="6096" userDrawn="1">
          <p15:clr>
            <a:srgbClr val="F26B43"/>
          </p15:clr>
        </p15:guide>
        <p15:guide id="34" pos="960" userDrawn="1">
          <p15:clr>
            <a:srgbClr val="F26B43"/>
          </p15:clr>
        </p15:guide>
        <p15:guide id="35" pos="15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98AEE-33E1-07FE-18A2-13BA372DE6D2}"/>
              </a:ext>
            </a:extLst>
          </p:cNvPr>
          <p:cNvSpPr>
            <a:spLocks noGrp="1"/>
          </p:cNvSpPr>
          <p:nvPr>
            <p:ph type="ctrTitle"/>
          </p:nvPr>
        </p:nvSpPr>
        <p:spPr>
          <a:xfrm>
            <a:off x="609600" y="1371600"/>
            <a:ext cx="3892269" cy="3276599"/>
          </a:xfrm>
        </p:spPr>
        <p:txBody>
          <a:bodyPr anchor="t">
            <a:normAutofit/>
          </a:bodyPr>
          <a:lstStyle/>
          <a:p>
            <a:r>
              <a:rPr lang="en-US" sz="3000"/>
              <a:t>Heavy Duty Motor Oils (HDMO): Standards, Applications, and Operational Considerations</a:t>
            </a:r>
          </a:p>
        </p:txBody>
      </p:sp>
      <p:sp>
        <p:nvSpPr>
          <p:cNvPr id="3" name="Subtitle 2">
            <a:extLst>
              <a:ext uri="{FF2B5EF4-FFF2-40B4-BE49-F238E27FC236}">
                <a16:creationId xmlns:a16="http://schemas.microsoft.com/office/drawing/2014/main" id="{E2D8AC3D-4EA4-024B-CA58-E554C8915950}"/>
              </a:ext>
            </a:extLst>
          </p:cNvPr>
          <p:cNvSpPr>
            <a:spLocks noGrp="1"/>
          </p:cNvSpPr>
          <p:nvPr>
            <p:ph type="subTitle" idx="1"/>
          </p:nvPr>
        </p:nvSpPr>
        <p:spPr>
          <a:xfrm>
            <a:off x="609600" y="5032606"/>
            <a:ext cx="3177209" cy="871237"/>
          </a:xfrm>
        </p:spPr>
        <p:txBody>
          <a:bodyPr anchor="b">
            <a:normAutofit/>
          </a:bodyPr>
          <a:lstStyle/>
          <a:p>
            <a:r>
              <a:rPr lang="en-US"/>
              <a:t>Ensuring performance and reliability in demanding engines</a:t>
            </a:r>
          </a:p>
        </p:txBody>
      </p:sp>
      <p:pic>
        <p:nvPicPr>
          <p:cNvPr id="4" name="Picture 3" descr="A hand lever">
            <a:extLst>
              <a:ext uri="{FF2B5EF4-FFF2-40B4-BE49-F238E27FC236}">
                <a16:creationId xmlns:a16="http://schemas.microsoft.com/office/drawing/2014/main" id="{92B9824F-309C-4478-94FE-2E55C2D6AAD2}"/>
              </a:ext>
            </a:extLst>
          </p:cNvPr>
          <p:cNvPicPr>
            <a:picLocks noChangeAspect="1"/>
          </p:cNvPicPr>
          <p:nvPr/>
        </p:nvPicPr>
        <p:blipFill>
          <a:blip r:embed="rId3"/>
          <a:stretch>
            <a:fillRect/>
          </a:stretch>
        </p:blipFill>
        <p:spPr>
          <a:xfrm>
            <a:off x="5111574" y="1642273"/>
            <a:ext cx="6470826" cy="4335453"/>
          </a:xfrm>
          <a:prstGeom prst="rect">
            <a:avLst/>
          </a:prstGeom>
        </p:spPr>
      </p:pic>
    </p:spTree>
    <p:extLst>
      <p:ext uri="{BB962C8B-B14F-4D97-AF65-F5344CB8AC3E}">
        <p14:creationId xmlns:p14="http://schemas.microsoft.com/office/powerpoint/2010/main" val="418005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2FB9-74C5-A412-ED6F-5ADF2A42456B}"/>
              </a:ext>
            </a:extLst>
          </p:cNvPr>
          <p:cNvSpPr>
            <a:spLocks noGrp="1"/>
          </p:cNvSpPr>
          <p:nvPr>
            <p:ph type="ctrTitle"/>
          </p:nvPr>
        </p:nvSpPr>
        <p:spPr>
          <a:xfrm>
            <a:off x="612648" y="1417671"/>
            <a:ext cx="7909560" cy="4830729"/>
          </a:xfrm>
        </p:spPr>
        <p:txBody>
          <a:bodyPr anchor="b">
            <a:normAutofit/>
          </a:bodyPr>
          <a:lstStyle/>
          <a:p>
            <a:r>
              <a:rPr lang="en-US"/>
              <a:t>Foundations of Heavy Duty Motor Oils</a:t>
            </a:r>
          </a:p>
        </p:txBody>
      </p:sp>
    </p:spTree>
    <p:extLst>
      <p:ext uri="{BB962C8B-B14F-4D97-AF65-F5344CB8AC3E}">
        <p14:creationId xmlns:p14="http://schemas.microsoft.com/office/powerpoint/2010/main" val="20783237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1B319-C5A7-2B7E-9258-1E88EADCE17D}"/>
              </a:ext>
            </a:extLst>
          </p:cNvPr>
          <p:cNvSpPr>
            <a:spLocks noGrp="1"/>
          </p:cNvSpPr>
          <p:nvPr>
            <p:ph type="title"/>
          </p:nvPr>
        </p:nvSpPr>
        <p:spPr>
          <a:xfrm>
            <a:off x="6904077" y="1371599"/>
            <a:ext cx="4667987" cy="606887"/>
          </a:xfrm>
        </p:spPr>
        <p:txBody>
          <a:bodyPr anchor="t">
            <a:normAutofit/>
          </a:bodyPr>
          <a:lstStyle/>
          <a:p>
            <a:r>
              <a:rPr lang="en-US" sz="2000"/>
              <a:t>Purpose and scope of heavy duty motor oils</a:t>
            </a:r>
          </a:p>
        </p:txBody>
      </p:sp>
      <p:pic>
        <p:nvPicPr>
          <p:cNvPr id="5" name="Content Placeholder 4" descr="Old batteries of an electric car from 1910">
            <a:extLst>
              <a:ext uri="{FF2B5EF4-FFF2-40B4-BE49-F238E27FC236}">
                <a16:creationId xmlns:a16="http://schemas.microsoft.com/office/drawing/2014/main" id="{97CBFB0C-65E8-4F65-AA06-B4015B9FB582}"/>
              </a:ext>
            </a:extLst>
          </p:cNvPr>
          <p:cNvPicPr>
            <a:picLocks noGrp="1" noChangeAspect="1"/>
          </p:cNvPicPr>
          <p:nvPr>
            <p:ph type="pic" sz="quarter" idx="13"/>
          </p:nvPr>
        </p:nvPicPr>
        <p:blipFill>
          <a:blip r:embed="rId3"/>
          <a:srcRect l="15569" r="3913" b="-1"/>
          <a:stretch>
            <a:fillRect/>
          </a:stretch>
        </p:blipFill>
        <p:spPr>
          <a:xfrm>
            <a:off x="609599" y="1371600"/>
            <a:ext cx="5882642" cy="4876800"/>
          </a:xfrm>
        </p:spPr>
      </p:pic>
      <p:sp>
        <p:nvSpPr>
          <p:cNvPr id="4" name="Content Placeholder 3">
            <a:extLst>
              <a:ext uri="{FF2B5EF4-FFF2-40B4-BE49-F238E27FC236}">
                <a16:creationId xmlns:a16="http://schemas.microsoft.com/office/drawing/2014/main" id="{51DADE36-F4E6-7086-17E8-6C4C3C319D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06805" y="2362535"/>
            <a:ext cx="4675596" cy="3885866"/>
          </a:xfrm>
        </p:spPr>
        <p:txBody>
          <a:bodyPr>
            <a:normAutofit/>
          </a:bodyPr>
          <a:lstStyle/>
          <a:p>
            <a:pPr marL="0" indent="0">
              <a:lnSpc>
                <a:spcPct val="110000"/>
              </a:lnSpc>
              <a:spcBef>
                <a:spcPts val="2500"/>
              </a:spcBef>
              <a:buFont typeface="Arial" panose="020B0604020202020204" pitchFamily="34" charset="0"/>
              <a:buNone/>
            </a:pPr>
            <a:r>
              <a:rPr lang="en-US" b="1"/>
              <a:t>HDMO Functions</a:t>
            </a:r>
          </a:p>
          <a:p>
            <a:pPr marL="0" lvl="1" indent="0">
              <a:lnSpc>
                <a:spcPct val="110000"/>
              </a:lnSpc>
              <a:buFont typeface="Arial" panose="020B0604020202020204" pitchFamily="34" charset="0"/>
              <a:buNone/>
            </a:pPr>
            <a:r>
              <a:rPr lang="en-US"/>
              <a:t>Heavy duty motor oils reduce friction, control soot, manage oxidation, and protect aftertreatment systems in diesel engines.</a:t>
            </a:r>
          </a:p>
          <a:p>
            <a:pPr marL="0" indent="0">
              <a:lnSpc>
                <a:spcPct val="110000"/>
              </a:lnSpc>
              <a:spcBef>
                <a:spcPts val="2500"/>
              </a:spcBef>
              <a:buFont typeface="Arial" panose="020B0604020202020204" pitchFamily="34" charset="0"/>
              <a:buNone/>
            </a:pPr>
            <a:r>
              <a:rPr lang="en-US" b="1"/>
              <a:t>API Classification and Standards</a:t>
            </a:r>
          </a:p>
          <a:p>
            <a:pPr marL="0" lvl="1" indent="0">
              <a:lnSpc>
                <a:spcPct val="110000"/>
              </a:lnSpc>
              <a:buFont typeface="Arial" panose="020B0604020202020204" pitchFamily="34" charset="0"/>
              <a:buNone/>
            </a:pPr>
            <a:r>
              <a:rPr lang="en-US"/>
              <a:t>API classifies HDMOs under commercial categories like CK-4 and FA-4 to meet emission and durability requirements.</a:t>
            </a:r>
          </a:p>
          <a:p>
            <a:pPr marL="0" indent="0">
              <a:lnSpc>
                <a:spcPct val="110000"/>
              </a:lnSpc>
              <a:spcBef>
                <a:spcPts val="2500"/>
              </a:spcBef>
              <a:buFont typeface="Arial" panose="020B0604020202020204" pitchFamily="34" charset="0"/>
              <a:buNone/>
            </a:pPr>
            <a:r>
              <a:rPr lang="en-US" b="1"/>
              <a:t>Oil Selection Factors</a:t>
            </a:r>
          </a:p>
          <a:p>
            <a:pPr marL="0" lvl="1" indent="0">
              <a:lnSpc>
                <a:spcPct val="110000"/>
              </a:lnSpc>
              <a:buFont typeface="Arial" panose="020B0604020202020204" pitchFamily="34" charset="0"/>
              <a:buNone/>
            </a:pPr>
            <a:r>
              <a:rPr lang="en-US"/>
              <a:t>Selecting HDMO involves balancing viscosity, OEM approvals, engine design, duty cycle, and maintenance strategies.</a:t>
            </a:r>
          </a:p>
        </p:txBody>
      </p:sp>
    </p:spTree>
    <p:extLst>
      <p:ext uri="{BB962C8B-B14F-4D97-AF65-F5344CB8AC3E}">
        <p14:creationId xmlns:p14="http://schemas.microsoft.com/office/powerpoint/2010/main" val="451124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2D3D3-E7D2-C89B-3582-8EE77FA3377D}"/>
              </a:ext>
            </a:extLst>
          </p:cNvPr>
          <p:cNvSpPr>
            <a:spLocks noGrp="1"/>
          </p:cNvSpPr>
          <p:nvPr>
            <p:ph type="ctrTitle"/>
          </p:nvPr>
        </p:nvSpPr>
        <p:spPr>
          <a:xfrm>
            <a:off x="612648" y="1417671"/>
            <a:ext cx="7909560" cy="4830729"/>
          </a:xfrm>
        </p:spPr>
        <p:txBody>
          <a:bodyPr anchor="b">
            <a:normAutofit/>
          </a:bodyPr>
          <a:lstStyle/>
          <a:p>
            <a:r>
              <a:rPr lang="en-US"/>
              <a:t>HDMO Standards and Classification</a:t>
            </a:r>
          </a:p>
        </p:txBody>
      </p:sp>
    </p:spTree>
    <p:extLst>
      <p:ext uri="{BB962C8B-B14F-4D97-AF65-F5344CB8AC3E}">
        <p14:creationId xmlns:p14="http://schemas.microsoft.com/office/powerpoint/2010/main" val="680433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8766C-8EC5-1FBA-C62E-7C2DADB67E1E}"/>
              </a:ext>
            </a:extLst>
          </p:cNvPr>
          <p:cNvSpPr>
            <a:spLocks noGrp="1"/>
          </p:cNvSpPr>
          <p:nvPr>
            <p:ph type="title"/>
          </p:nvPr>
        </p:nvSpPr>
        <p:spPr>
          <a:xfrm>
            <a:off x="612646" y="1371600"/>
            <a:ext cx="7166187" cy="606886"/>
          </a:xfrm>
        </p:spPr>
        <p:txBody>
          <a:bodyPr anchor="t">
            <a:normAutofit/>
          </a:bodyPr>
          <a:lstStyle/>
          <a:p>
            <a:r>
              <a:rPr lang="en-US"/>
              <a:t>API CK-4 and FA-4 categories explained</a:t>
            </a:r>
          </a:p>
        </p:txBody>
      </p:sp>
      <p:sp>
        <p:nvSpPr>
          <p:cNvPr id="4" name="Content Placeholder 3">
            <a:extLst>
              <a:ext uri="{FF2B5EF4-FFF2-40B4-BE49-F238E27FC236}">
                <a16:creationId xmlns:a16="http://schemas.microsoft.com/office/drawing/2014/main" id="{F8DA6E64-7673-6FF9-CF31-30212A5E53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API CK-4 Performance</a:t>
            </a:r>
          </a:p>
          <a:p>
            <a:pPr marL="0" lvl="1" indent="0">
              <a:lnSpc>
                <a:spcPct val="110000"/>
              </a:lnSpc>
              <a:buFont typeface="Arial" panose="020B0604020202020204" pitchFamily="34" charset="0"/>
              <a:buNone/>
            </a:pPr>
            <a:r>
              <a:rPr lang="en-US" sz="1200"/>
              <a:t>CK-4 oils offer improved oxidation resistance, shear stability, aeration control, and wear protection for modern engines.</a:t>
            </a:r>
          </a:p>
          <a:p>
            <a:pPr marL="0" indent="0">
              <a:lnSpc>
                <a:spcPct val="110000"/>
              </a:lnSpc>
              <a:spcBef>
                <a:spcPts val="2500"/>
              </a:spcBef>
              <a:buFont typeface="Arial" panose="020B0604020202020204" pitchFamily="34" charset="0"/>
              <a:buNone/>
            </a:pPr>
            <a:r>
              <a:rPr lang="en-US" sz="1200" b="1"/>
              <a:t>API FA-4 Efficiency</a:t>
            </a:r>
          </a:p>
          <a:p>
            <a:pPr marL="0" lvl="1" indent="0">
              <a:lnSpc>
                <a:spcPct val="110000"/>
              </a:lnSpc>
              <a:buFont typeface="Arial" panose="020B0604020202020204" pitchFamily="34" charset="0"/>
              <a:buNone/>
            </a:pPr>
            <a:r>
              <a:rPr lang="en-US" sz="1200"/>
              <a:t>FA-4 oils have lower HTHS viscosity to reduce friction and enhance fuel economy in approved newer engines.</a:t>
            </a:r>
          </a:p>
          <a:p>
            <a:pPr marL="0" indent="0">
              <a:lnSpc>
                <a:spcPct val="110000"/>
              </a:lnSpc>
              <a:spcBef>
                <a:spcPts val="2500"/>
              </a:spcBef>
              <a:buFont typeface="Arial" panose="020B0604020202020204" pitchFamily="34" charset="0"/>
              <a:buNone/>
            </a:pPr>
            <a:r>
              <a:rPr lang="en-US" sz="1200" b="1"/>
              <a:t>Compatibility and Usage</a:t>
            </a:r>
          </a:p>
          <a:p>
            <a:pPr marL="0" lvl="1" indent="0">
              <a:lnSpc>
                <a:spcPct val="110000"/>
              </a:lnSpc>
              <a:buFont typeface="Arial" panose="020B0604020202020204" pitchFamily="34" charset="0"/>
              <a:buNone/>
            </a:pPr>
            <a:r>
              <a:rPr lang="en-US" sz="1200"/>
              <a:t>CK-4 oils are backward compatible, while FA-4 oils require explicit manufacturer approval to avoid engine wear risks.</a:t>
            </a:r>
          </a:p>
          <a:p>
            <a:pPr marL="0" indent="0">
              <a:lnSpc>
                <a:spcPct val="110000"/>
              </a:lnSpc>
              <a:spcBef>
                <a:spcPts val="2500"/>
              </a:spcBef>
              <a:buFont typeface="Arial" panose="020B0604020202020204" pitchFamily="34" charset="0"/>
              <a:buNone/>
            </a:pPr>
            <a:r>
              <a:rPr lang="en-US" sz="1200" b="1"/>
              <a:t>HTHS Viscosity Comparison</a:t>
            </a:r>
          </a:p>
          <a:p>
            <a:pPr marL="0" lvl="1" indent="0">
              <a:lnSpc>
                <a:spcPct val="110000"/>
              </a:lnSpc>
              <a:buFont typeface="Arial" panose="020B0604020202020204" pitchFamily="34" charset="0"/>
              <a:buNone/>
            </a:pPr>
            <a:r>
              <a:rPr lang="en-US" sz="1200"/>
              <a:t>CK-4 oils maintain higher minimum HTHS viscosity emphasizing durability; FA-4 oils focus on fuel efficiency with lower viscosity.</a:t>
            </a:r>
          </a:p>
        </p:txBody>
      </p:sp>
      <p:pic>
        <p:nvPicPr>
          <p:cNvPr id="5" name="Content Placeholder 4" descr="Changing engine oil">
            <a:extLst>
              <a:ext uri="{FF2B5EF4-FFF2-40B4-BE49-F238E27FC236}">
                <a16:creationId xmlns:a16="http://schemas.microsoft.com/office/drawing/2014/main" id="{0823DBB5-55A5-4438-B116-A10860DCB686}"/>
              </a:ext>
            </a:extLst>
          </p:cNvPr>
          <p:cNvPicPr>
            <a:picLocks noGrp="1" noChangeAspect="1"/>
          </p:cNvPicPr>
          <p:nvPr>
            <p:ph type="pic" sz="quarter" idx="13"/>
          </p:nvPr>
        </p:nvPicPr>
        <p:blipFill>
          <a:blip r:embed="rId3"/>
          <a:srcRect l="27015" r="20485"/>
          <a:stretch>
            <a:fillRect/>
          </a:stretch>
        </p:blipFill>
        <p:spPr>
          <a:xfrm>
            <a:off x="8165593" y="1373529"/>
            <a:ext cx="3413760" cy="4876800"/>
          </a:xfrm>
        </p:spPr>
      </p:pic>
    </p:spTree>
    <p:extLst>
      <p:ext uri="{BB962C8B-B14F-4D97-AF65-F5344CB8AC3E}">
        <p14:creationId xmlns:p14="http://schemas.microsoft.com/office/powerpoint/2010/main" val="2807847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77D4A-CF91-DF7D-F5EF-652F9235234B}"/>
              </a:ext>
            </a:extLst>
          </p:cNvPr>
          <p:cNvSpPr>
            <a:spLocks noGrp="1"/>
          </p:cNvSpPr>
          <p:nvPr>
            <p:ph type="ctrTitle"/>
          </p:nvPr>
        </p:nvSpPr>
        <p:spPr>
          <a:xfrm>
            <a:off x="612648" y="1417671"/>
            <a:ext cx="7909560" cy="4830729"/>
          </a:xfrm>
        </p:spPr>
        <p:txBody>
          <a:bodyPr anchor="b">
            <a:normAutofit/>
          </a:bodyPr>
          <a:lstStyle/>
          <a:p>
            <a:r>
              <a:rPr lang="en-US"/>
              <a:t>Viscosity and Performance Trade-offs</a:t>
            </a:r>
          </a:p>
        </p:txBody>
      </p:sp>
    </p:spTree>
    <p:extLst>
      <p:ext uri="{BB962C8B-B14F-4D97-AF65-F5344CB8AC3E}">
        <p14:creationId xmlns:p14="http://schemas.microsoft.com/office/powerpoint/2010/main" val="22928174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DA0D-02BF-6154-1F7F-05C30247319E}"/>
              </a:ext>
            </a:extLst>
          </p:cNvPr>
          <p:cNvSpPr>
            <a:spLocks noGrp="1"/>
          </p:cNvSpPr>
          <p:nvPr>
            <p:ph type="title"/>
          </p:nvPr>
        </p:nvSpPr>
        <p:spPr>
          <a:xfrm>
            <a:off x="612646" y="1371600"/>
            <a:ext cx="7166187" cy="606886"/>
          </a:xfrm>
        </p:spPr>
        <p:txBody>
          <a:bodyPr anchor="t">
            <a:normAutofit/>
          </a:bodyPr>
          <a:lstStyle/>
          <a:p>
            <a:r>
              <a:rPr lang="en-US" sz="2000"/>
              <a:t>Role of viscosity and HTHS in heavy duty engines</a:t>
            </a:r>
          </a:p>
        </p:txBody>
      </p:sp>
      <p:sp>
        <p:nvSpPr>
          <p:cNvPr id="4" name="Content Placeholder 3">
            <a:extLst>
              <a:ext uri="{FF2B5EF4-FFF2-40B4-BE49-F238E27FC236}">
                <a16:creationId xmlns:a16="http://schemas.microsoft.com/office/drawing/2014/main" id="{5692C517-C14E-022C-C7A5-B65B75AFCE6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Viscosity Impact on Engine Performance</a:t>
            </a:r>
          </a:p>
          <a:p>
            <a:pPr marL="0" lvl="1" indent="0">
              <a:lnSpc>
                <a:spcPct val="110000"/>
              </a:lnSpc>
              <a:buFont typeface="Arial" panose="020B0604020202020204" pitchFamily="34" charset="0"/>
              <a:buNone/>
            </a:pPr>
            <a:r>
              <a:rPr lang="en-US" sz="1200"/>
              <a:t>Viscosity affects lubrication strength, wear protection, cold-start flow, and fuel efficiency in heavy duty engines.</a:t>
            </a:r>
          </a:p>
          <a:p>
            <a:pPr marL="0" indent="0">
              <a:lnSpc>
                <a:spcPct val="110000"/>
              </a:lnSpc>
              <a:spcBef>
                <a:spcPts val="2500"/>
              </a:spcBef>
              <a:buFont typeface="Arial" panose="020B0604020202020204" pitchFamily="34" charset="0"/>
              <a:buNone/>
            </a:pPr>
            <a:r>
              <a:rPr lang="en-US" sz="1200" b="1"/>
              <a:t>SAE Viscosity Grades Explained</a:t>
            </a:r>
          </a:p>
          <a:p>
            <a:pPr marL="0" lvl="1" indent="0">
              <a:lnSpc>
                <a:spcPct val="110000"/>
              </a:lnSpc>
              <a:buFont typeface="Arial" panose="020B0604020202020204" pitchFamily="34" charset="0"/>
              <a:buNone/>
            </a:pPr>
            <a:r>
              <a:rPr lang="en-US" sz="1200"/>
              <a:t>SAE grades indicate low-temperature flow and operating temperature viscosity for optimal oil performance.</a:t>
            </a:r>
          </a:p>
          <a:p>
            <a:pPr marL="0" indent="0">
              <a:lnSpc>
                <a:spcPct val="110000"/>
              </a:lnSpc>
              <a:spcBef>
                <a:spcPts val="2500"/>
              </a:spcBef>
              <a:buFont typeface="Arial" panose="020B0604020202020204" pitchFamily="34" charset="0"/>
              <a:buNone/>
            </a:pPr>
            <a:r>
              <a:rPr lang="en-US" sz="1200" b="1"/>
              <a:t>Importance of HTHS Viscosity</a:t>
            </a:r>
          </a:p>
          <a:p>
            <a:pPr marL="0" lvl="1" indent="0">
              <a:lnSpc>
                <a:spcPct val="110000"/>
              </a:lnSpc>
              <a:buFont typeface="Arial" panose="020B0604020202020204" pitchFamily="34" charset="0"/>
              <a:buNone/>
            </a:pPr>
            <a:r>
              <a:rPr lang="en-US" sz="1200"/>
              <a:t>HTHS viscosity reflects oil behavior under high shear, critical for bearing and valvetrain wear protection.</a:t>
            </a:r>
          </a:p>
          <a:p>
            <a:pPr marL="0" indent="0">
              <a:lnSpc>
                <a:spcPct val="110000"/>
              </a:lnSpc>
              <a:spcBef>
                <a:spcPts val="2500"/>
              </a:spcBef>
              <a:buFont typeface="Arial" panose="020B0604020202020204" pitchFamily="34" charset="0"/>
              <a:buNone/>
            </a:pPr>
            <a:r>
              <a:rPr lang="en-US" sz="1200" b="1"/>
              <a:t>Balancing Protection and Efficiency</a:t>
            </a:r>
          </a:p>
          <a:p>
            <a:pPr marL="0" lvl="1" indent="0">
              <a:lnSpc>
                <a:spcPct val="110000"/>
              </a:lnSpc>
              <a:buFont typeface="Arial" panose="020B0604020202020204" pitchFamily="34" charset="0"/>
              <a:buNone/>
            </a:pPr>
            <a:r>
              <a:rPr lang="en-US" sz="1200"/>
              <a:t>Choosing oil viscosity balances wear protection with fuel economy and emissions compliance.</a:t>
            </a:r>
          </a:p>
        </p:txBody>
      </p:sp>
      <p:pic>
        <p:nvPicPr>
          <p:cNvPr id="5" name="Content Placeholder 4" descr="3D illustration of parts of car.">
            <a:extLst>
              <a:ext uri="{FF2B5EF4-FFF2-40B4-BE49-F238E27FC236}">
                <a16:creationId xmlns:a16="http://schemas.microsoft.com/office/drawing/2014/main" id="{14167E14-1243-4705-BC82-A6A9EFE69C0C}"/>
              </a:ext>
            </a:extLst>
          </p:cNvPr>
          <p:cNvPicPr>
            <a:picLocks noGrp="1" noChangeAspect="1"/>
          </p:cNvPicPr>
          <p:nvPr>
            <p:ph type="pic" sz="quarter" idx="13"/>
          </p:nvPr>
        </p:nvPicPr>
        <p:blipFill>
          <a:blip r:embed="rId3"/>
          <a:srcRect l="16709" r="13291"/>
          <a:stretch>
            <a:fillRect/>
          </a:stretch>
        </p:blipFill>
        <p:spPr>
          <a:xfrm>
            <a:off x="8165593" y="1373529"/>
            <a:ext cx="3413760" cy="4876800"/>
          </a:xfrm>
        </p:spPr>
      </p:pic>
    </p:spTree>
    <p:extLst>
      <p:ext uri="{BB962C8B-B14F-4D97-AF65-F5344CB8AC3E}">
        <p14:creationId xmlns:p14="http://schemas.microsoft.com/office/powerpoint/2010/main" val="36663142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4AE-102F-8DE4-CA7F-5EBD507C7B53}"/>
              </a:ext>
            </a:extLst>
          </p:cNvPr>
          <p:cNvSpPr>
            <a:spLocks noGrp="1"/>
          </p:cNvSpPr>
          <p:nvPr>
            <p:ph type="ctrTitle"/>
          </p:nvPr>
        </p:nvSpPr>
        <p:spPr>
          <a:xfrm>
            <a:off x="612648" y="1417671"/>
            <a:ext cx="7909560" cy="4830729"/>
          </a:xfrm>
        </p:spPr>
        <p:txBody>
          <a:bodyPr anchor="b">
            <a:normAutofit/>
          </a:bodyPr>
          <a:lstStyle/>
          <a:p>
            <a:r>
              <a:rPr lang="en-US"/>
              <a:t>OEM Approvals and Drain Interval Strategy</a:t>
            </a:r>
          </a:p>
        </p:txBody>
      </p:sp>
    </p:spTree>
    <p:extLst>
      <p:ext uri="{BB962C8B-B14F-4D97-AF65-F5344CB8AC3E}">
        <p14:creationId xmlns:p14="http://schemas.microsoft.com/office/powerpoint/2010/main" val="195211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129B-C8A8-30C4-5070-02B048F8877B}"/>
              </a:ext>
            </a:extLst>
          </p:cNvPr>
          <p:cNvSpPr>
            <a:spLocks noGrp="1"/>
          </p:cNvSpPr>
          <p:nvPr>
            <p:ph type="title"/>
          </p:nvPr>
        </p:nvSpPr>
        <p:spPr>
          <a:xfrm>
            <a:off x="609599" y="1371600"/>
            <a:ext cx="4675633" cy="990600"/>
          </a:xfrm>
        </p:spPr>
        <p:txBody>
          <a:bodyPr anchor="t">
            <a:normAutofit/>
          </a:bodyPr>
          <a:lstStyle/>
          <a:p>
            <a:r>
              <a:rPr lang="en-US"/>
              <a:t>Importance of OEM specifications and approvals</a:t>
            </a:r>
          </a:p>
        </p:txBody>
      </p:sp>
      <p:pic>
        <p:nvPicPr>
          <p:cNvPr id="5" name="Content Placeholder 4" descr="Detail shot of cogwheels in gear.Circle, Engine, Gear, Machine Part, Metal,">
            <a:extLst>
              <a:ext uri="{FF2B5EF4-FFF2-40B4-BE49-F238E27FC236}">
                <a16:creationId xmlns:a16="http://schemas.microsoft.com/office/drawing/2014/main" id="{E51EA462-E222-4E13-B3EC-813D1AB4BA98}"/>
              </a:ext>
            </a:extLst>
          </p:cNvPr>
          <p:cNvPicPr>
            <a:picLocks noGrp="1" noChangeAspect="1"/>
          </p:cNvPicPr>
          <p:nvPr>
            <p:ph type="pic" sz="quarter" idx="13"/>
          </p:nvPr>
        </p:nvPicPr>
        <p:blipFill>
          <a:blip r:embed="rId3"/>
          <a:srcRect l="10884" r="2" b="2"/>
          <a:stretch>
            <a:fillRect/>
          </a:stretch>
        </p:blipFill>
        <p:spPr>
          <a:xfrm>
            <a:off x="609600" y="2746246"/>
            <a:ext cx="4675632" cy="3502153"/>
          </a:xfrm>
        </p:spPr>
      </p:pic>
      <p:sp>
        <p:nvSpPr>
          <p:cNvPr id="4" name="Content Placeholder 3">
            <a:extLst>
              <a:ext uri="{FF2B5EF4-FFF2-40B4-BE49-F238E27FC236}">
                <a16:creationId xmlns:a16="http://schemas.microsoft.com/office/drawing/2014/main" id="{62B78E87-33B1-26CD-4D4E-47F095391E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OEM Approvals Over API Standards</a:t>
            </a:r>
          </a:p>
          <a:p>
            <a:pPr marL="0" lvl="1" indent="0">
              <a:buFont typeface="Arial" panose="020B0604020202020204" pitchFamily="34" charset="0"/>
              <a:buNone/>
            </a:pPr>
            <a:r>
              <a:rPr lang="en-US"/>
              <a:t>OEM approvals set specific oil requirements beyond baseline API categories, tailored to engine designs and performance needs.</a:t>
            </a:r>
          </a:p>
          <a:p>
            <a:pPr marL="0" indent="0">
              <a:spcBef>
                <a:spcPts val="2500"/>
              </a:spcBef>
              <a:buFont typeface="Arial" panose="020B0604020202020204" pitchFamily="34" charset="0"/>
              <a:buNone/>
            </a:pPr>
            <a:r>
              <a:rPr lang="en-US" b="1"/>
              <a:t>Extended Oil Drain Intervals</a:t>
            </a:r>
          </a:p>
          <a:p>
            <a:pPr marL="0" lvl="1" indent="0">
              <a:buFont typeface="Arial" panose="020B0604020202020204" pitchFamily="34" charset="0"/>
              <a:buNone/>
            </a:pPr>
            <a:r>
              <a:rPr lang="en-US"/>
              <a:t>Extended drain intervals are possible with approved oils and favorable conditions, validated by used oil analysis monitoring key parameters.</a:t>
            </a:r>
          </a:p>
          <a:p>
            <a:pPr marL="0" indent="0">
              <a:spcBef>
                <a:spcPts val="2500"/>
              </a:spcBef>
              <a:buFont typeface="Arial" panose="020B0604020202020204" pitchFamily="34" charset="0"/>
              <a:buNone/>
            </a:pPr>
            <a:r>
              <a:rPr lang="en-US" b="1"/>
              <a:t>Fleet Maintenance Governance</a:t>
            </a:r>
          </a:p>
          <a:p>
            <a:pPr marL="0" lvl="1" indent="0">
              <a:buFont typeface="Arial" panose="020B0604020202020204" pitchFamily="34" charset="0"/>
              <a:buNone/>
            </a:pPr>
            <a:r>
              <a:rPr lang="en-US"/>
              <a:t>Standardizing oils in fleets simplifies logistics but must comply with diverse OEM requirements across engine models and years.</a:t>
            </a:r>
          </a:p>
          <a:p>
            <a:pPr marL="0" indent="0">
              <a:spcBef>
                <a:spcPts val="2500"/>
              </a:spcBef>
              <a:buFont typeface="Arial" panose="020B0604020202020204" pitchFamily="34" charset="0"/>
              <a:buNone/>
            </a:pPr>
            <a:r>
              <a:rPr lang="en-US" b="1"/>
              <a:t>Evolving OEM Specifications</a:t>
            </a:r>
          </a:p>
          <a:p>
            <a:pPr marL="0" lvl="1" indent="0">
              <a:buFont typeface="Arial" panose="020B0604020202020204" pitchFamily="34" charset="0"/>
              <a:buNone/>
            </a:pPr>
            <a:r>
              <a:rPr lang="en-US"/>
              <a:t>OEM specs are increasingly detailed, differentiating by API category, viscosity grade, and application to meet emission and efficiency goals.</a:t>
            </a:r>
          </a:p>
        </p:txBody>
      </p:sp>
    </p:spTree>
    <p:extLst>
      <p:ext uri="{BB962C8B-B14F-4D97-AF65-F5344CB8AC3E}">
        <p14:creationId xmlns:p14="http://schemas.microsoft.com/office/powerpoint/2010/main" val="3117771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E58B-1871-D1B5-5F0B-5716AAB61545}"/>
              </a:ext>
            </a:extLst>
          </p:cNvPr>
          <p:cNvSpPr>
            <a:spLocks noGrp="1"/>
          </p:cNvSpPr>
          <p:nvPr>
            <p:ph type="ctrTitle"/>
          </p:nvPr>
        </p:nvSpPr>
        <p:spPr>
          <a:xfrm>
            <a:off x="612648" y="1417671"/>
            <a:ext cx="7909560" cy="4830729"/>
          </a:xfrm>
        </p:spPr>
        <p:txBody>
          <a:bodyPr anchor="b">
            <a:normAutofit/>
          </a:bodyPr>
          <a:lstStyle/>
          <a:p>
            <a:r>
              <a:rPr lang="en-US"/>
              <a:t>Formulation and Market Trends</a:t>
            </a:r>
          </a:p>
        </p:txBody>
      </p:sp>
    </p:spTree>
    <p:extLst>
      <p:ext uri="{BB962C8B-B14F-4D97-AF65-F5344CB8AC3E}">
        <p14:creationId xmlns:p14="http://schemas.microsoft.com/office/powerpoint/2010/main" val="4194977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AE48-D80E-B199-B999-108375ADDEC4}"/>
              </a:ext>
            </a:extLst>
          </p:cNvPr>
          <p:cNvSpPr>
            <a:spLocks noGrp="1"/>
          </p:cNvSpPr>
          <p:nvPr>
            <p:ph type="title"/>
          </p:nvPr>
        </p:nvSpPr>
        <p:spPr>
          <a:xfrm>
            <a:off x="612646" y="1371600"/>
            <a:ext cx="7166187" cy="606886"/>
          </a:xfrm>
        </p:spPr>
        <p:txBody>
          <a:bodyPr anchor="t">
            <a:normAutofit/>
          </a:bodyPr>
          <a:lstStyle/>
          <a:p>
            <a:r>
              <a:rPr lang="en-US" sz="2000"/>
              <a:t>Additives, durability, and emerging efficiency trends</a:t>
            </a:r>
          </a:p>
        </p:txBody>
      </p:sp>
      <p:sp>
        <p:nvSpPr>
          <p:cNvPr id="4" name="Content Placeholder 3">
            <a:extLst>
              <a:ext uri="{FF2B5EF4-FFF2-40B4-BE49-F238E27FC236}">
                <a16:creationId xmlns:a16="http://schemas.microsoft.com/office/drawing/2014/main" id="{201782A5-E5D5-934D-386C-EECC5104B54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Formulation and Durability Balance</a:t>
            </a:r>
          </a:p>
          <a:p>
            <a:pPr marL="0" lvl="1" indent="0">
              <a:lnSpc>
                <a:spcPct val="110000"/>
              </a:lnSpc>
              <a:buFont typeface="Arial" panose="020B0604020202020204" pitchFamily="34" charset="0"/>
              <a:buNone/>
            </a:pPr>
            <a:r>
              <a:rPr lang="en-US" sz="1200"/>
              <a:t>HD motor oils balance durability, cleanliness, emissions compatibility, and efficiency through advanced additives.</a:t>
            </a:r>
          </a:p>
          <a:p>
            <a:pPr marL="0" indent="0">
              <a:lnSpc>
                <a:spcPct val="110000"/>
              </a:lnSpc>
              <a:spcBef>
                <a:spcPts val="2500"/>
              </a:spcBef>
              <a:buFont typeface="Arial" panose="020B0604020202020204" pitchFamily="34" charset="0"/>
              <a:buNone/>
            </a:pPr>
            <a:r>
              <a:rPr lang="en-US" sz="1200" b="1"/>
              <a:t>Additives for Performance</a:t>
            </a:r>
          </a:p>
          <a:p>
            <a:pPr marL="0" lvl="1" indent="0">
              <a:lnSpc>
                <a:spcPct val="110000"/>
              </a:lnSpc>
              <a:buFont typeface="Arial" panose="020B0604020202020204" pitchFamily="34" charset="0"/>
              <a:buNone/>
            </a:pPr>
            <a:r>
              <a:rPr lang="en-US" sz="1200"/>
              <a:t>Detergents, dispersants, anti-wear agents, and viscosity modifiers maintain engine cleanliness and long drain intervals.</a:t>
            </a:r>
          </a:p>
          <a:p>
            <a:pPr marL="0" indent="0">
              <a:lnSpc>
                <a:spcPct val="110000"/>
              </a:lnSpc>
              <a:spcBef>
                <a:spcPts val="2500"/>
              </a:spcBef>
              <a:buFont typeface="Arial" panose="020B0604020202020204" pitchFamily="34" charset="0"/>
              <a:buNone/>
            </a:pPr>
            <a:r>
              <a:rPr lang="en-US" sz="1200" b="1"/>
              <a:t>Emerging Efficiency Trends</a:t>
            </a:r>
          </a:p>
          <a:p>
            <a:pPr marL="0" lvl="1" indent="0">
              <a:lnSpc>
                <a:spcPct val="110000"/>
              </a:lnSpc>
              <a:buFont typeface="Arial" panose="020B0604020202020204" pitchFamily="34" charset="0"/>
              <a:buNone/>
            </a:pPr>
            <a:r>
              <a:rPr lang="en-US" sz="1200"/>
              <a:t>Lower viscosity oils reduce frictional losses to meet fuel economy and emissions regulations in many applications.</a:t>
            </a:r>
          </a:p>
          <a:p>
            <a:pPr marL="0" indent="0">
              <a:lnSpc>
                <a:spcPct val="110000"/>
              </a:lnSpc>
              <a:spcBef>
                <a:spcPts val="2500"/>
              </a:spcBef>
              <a:buFont typeface="Arial" panose="020B0604020202020204" pitchFamily="34" charset="0"/>
              <a:buNone/>
            </a:pPr>
            <a:r>
              <a:rPr lang="en-US" sz="1200" b="1"/>
              <a:t>Application-Specific Formulations</a:t>
            </a:r>
          </a:p>
          <a:p>
            <a:pPr marL="0" lvl="1" indent="0">
              <a:lnSpc>
                <a:spcPct val="110000"/>
              </a:lnSpc>
              <a:buFont typeface="Arial" panose="020B0604020202020204" pitchFamily="34" charset="0"/>
              <a:buNone/>
            </a:pPr>
            <a:r>
              <a:rPr lang="en-US" sz="1200"/>
              <a:t>Oils must fit diverse needs including severe-duty, off-highway use, and compatibility with alternative fuels.</a:t>
            </a:r>
          </a:p>
        </p:txBody>
      </p:sp>
      <p:pic>
        <p:nvPicPr>
          <p:cNvPr id="5" name="Content Placeholder 4" descr="Mechanical repairs a tire in the garage.">
            <a:extLst>
              <a:ext uri="{FF2B5EF4-FFF2-40B4-BE49-F238E27FC236}">
                <a16:creationId xmlns:a16="http://schemas.microsoft.com/office/drawing/2014/main" id="{A3F60E09-827E-46A1-AA28-207AD46956FA}"/>
              </a:ext>
            </a:extLst>
          </p:cNvPr>
          <p:cNvPicPr>
            <a:picLocks noGrp="1" noChangeAspect="1"/>
          </p:cNvPicPr>
          <p:nvPr>
            <p:ph type="pic" sz="quarter" idx="13"/>
          </p:nvPr>
        </p:nvPicPr>
        <p:blipFill>
          <a:blip r:embed="rId3"/>
          <a:srcRect l="28453" r="24822" b="-1"/>
          <a:stretch>
            <a:fillRect/>
          </a:stretch>
        </p:blipFill>
        <p:spPr>
          <a:xfrm>
            <a:off x="8165593" y="1373529"/>
            <a:ext cx="3413760" cy="4876800"/>
          </a:xfrm>
        </p:spPr>
      </p:pic>
    </p:spTree>
    <p:extLst>
      <p:ext uri="{BB962C8B-B14F-4D97-AF65-F5344CB8AC3E}">
        <p14:creationId xmlns:p14="http://schemas.microsoft.com/office/powerpoint/2010/main" val="26653546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36C8B-B248-B792-BEB2-696EDD8DC106}"/>
              </a:ext>
            </a:extLst>
          </p:cNvPr>
          <p:cNvSpPr>
            <a:spLocks noGrp="1"/>
          </p:cNvSpPr>
          <p:nvPr>
            <p:ph type="ctrTitle"/>
          </p:nvPr>
        </p:nvSpPr>
        <p:spPr>
          <a:xfrm>
            <a:off x="612648" y="1417671"/>
            <a:ext cx="7909560" cy="4830729"/>
          </a:xfrm>
        </p:spPr>
        <p:txBody>
          <a:bodyPr anchor="b">
            <a:normAutofit/>
          </a:bodyPr>
          <a:lstStyle/>
          <a:p>
            <a:r>
              <a:rPr lang="en-US"/>
              <a:t>Practical Implications and Use Cases</a:t>
            </a:r>
          </a:p>
        </p:txBody>
      </p:sp>
    </p:spTree>
    <p:extLst>
      <p:ext uri="{BB962C8B-B14F-4D97-AF65-F5344CB8AC3E}">
        <p14:creationId xmlns:p14="http://schemas.microsoft.com/office/powerpoint/2010/main" val="2244962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6515-C676-0486-7F81-1410199B7AC7}"/>
              </a:ext>
            </a:extLst>
          </p:cNvPr>
          <p:cNvSpPr>
            <a:spLocks noGrp="1"/>
          </p:cNvSpPr>
          <p:nvPr>
            <p:ph type="title"/>
          </p:nvPr>
        </p:nvSpPr>
        <p:spPr>
          <a:xfrm>
            <a:off x="612646" y="1371600"/>
            <a:ext cx="7166187" cy="606886"/>
          </a:xfrm>
        </p:spPr>
        <p:txBody>
          <a:bodyPr anchor="t">
            <a:normAutofit/>
          </a:bodyPr>
          <a:lstStyle/>
          <a:p>
            <a:r>
              <a:rPr lang="en-US" sz="2000"/>
              <a:t>Operational decision-making and risk management</a:t>
            </a:r>
          </a:p>
        </p:txBody>
      </p:sp>
      <p:sp>
        <p:nvSpPr>
          <p:cNvPr id="4" name="Content Placeholder 3">
            <a:extLst>
              <a:ext uri="{FF2B5EF4-FFF2-40B4-BE49-F238E27FC236}">
                <a16:creationId xmlns:a16="http://schemas.microsoft.com/office/drawing/2014/main" id="{961378E4-54EC-E45A-DE46-BFEC4D1C42C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Operational Risk in Oil Selection</a:t>
            </a:r>
          </a:p>
          <a:p>
            <a:pPr marL="0" lvl="1" indent="0">
              <a:lnSpc>
                <a:spcPct val="110000"/>
              </a:lnSpc>
              <a:buFont typeface="Arial" panose="020B0604020202020204" pitchFamily="34" charset="0"/>
              <a:buNone/>
            </a:pPr>
            <a:r>
              <a:rPr lang="en-US" sz="1200"/>
              <a:t>Selecting heavy duty motor oil involves weighing fuel economy benefits against risks of product segregation by engine type and year.</a:t>
            </a:r>
          </a:p>
          <a:p>
            <a:pPr marL="0" indent="0">
              <a:lnSpc>
                <a:spcPct val="110000"/>
              </a:lnSpc>
              <a:spcBef>
                <a:spcPts val="2500"/>
              </a:spcBef>
              <a:buFont typeface="Arial" panose="020B0604020202020204" pitchFamily="34" charset="0"/>
              <a:buNone/>
            </a:pPr>
            <a:r>
              <a:rPr lang="en-US" sz="1200" b="1"/>
              <a:t>Maintenance and Compliance</a:t>
            </a:r>
          </a:p>
          <a:p>
            <a:pPr marL="0" lvl="1" indent="0">
              <a:lnSpc>
                <a:spcPct val="110000"/>
              </a:lnSpc>
              <a:buFont typeface="Arial" panose="020B0604020202020204" pitchFamily="34" charset="0"/>
              <a:buNone/>
            </a:pPr>
            <a:r>
              <a:rPr lang="en-US" sz="1200"/>
              <a:t>Maintenance teams must ensure technician understanding of labeling, approvals, and consequences of incorrect oil application.</a:t>
            </a:r>
          </a:p>
          <a:p>
            <a:pPr marL="0" indent="0">
              <a:lnSpc>
                <a:spcPct val="110000"/>
              </a:lnSpc>
              <a:spcBef>
                <a:spcPts val="2500"/>
              </a:spcBef>
              <a:buFont typeface="Arial" panose="020B0604020202020204" pitchFamily="34" charset="0"/>
              <a:buNone/>
            </a:pPr>
            <a:r>
              <a:rPr lang="en-US" sz="1200" b="1"/>
              <a:t>Document Complexity and AI Use</a:t>
            </a:r>
          </a:p>
          <a:p>
            <a:pPr marL="0" lvl="1" indent="0">
              <a:lnSpc>
                <a:spcPct val="110000"/>
              </a:lnSpc>
              <a:buFont typeface="Arial" panose="020B0604020202020204" pitchFamily="34" charset="0"/>
              <a:buNone/>
            </a:pPr>
            <a:r>
              <a:rPr lang="en-US" sz="1200"/>
              <a:t>HDMO documentation includes complex specifications and guides, ideal for testing AI-driven information extraction systems.</a:t>
            </a:r>
          </a:p>
          <a:p>
            <a:pPr marL="0" indent="0">
              <a:lnSpc>
                <a:spcPct val="110000"/>
              </a:lnSpc>
              <a:spcBef>
                <a:spcPts val="2500"/>
              </a:spcBef>
              <a:buFont typeface="Arial" panose="020B0604020202020204" pitchFamily="34" charset="0"/>
              <a:buNone/>
            </a:pPr>
            <a:r>
              <a:rPr lang="en-US" sz="1200" b="1"/>
              <a:t>Evolving Standards and Systems</a:t>
            </a:r>
          </a:p>
          <a:p>
            <a:pPr marL="0" lvl="1" indent="0">
              <a:lnSpc>
                <a:spcPct val="110000"/>
              </a:lnSpc>
              <a:buFont typeface="Arial" panose="020B0604020202020204" pitchFamily="34" charset="0"/>
              <a:buNone/>
            </a:pPr>
            <a:r>
              <a:rPr lang="en-US" sz="1200"/>
              <a:t>Continuous updates in oil standards and approvals require systems capable of preserving context and traceability.</a:t>
            </a:r>
          </a:p>
        </p:txBody>
      </p:sp>
      <p:pic>
        <p:nvPicPr>
          <p:cNvPr id="5" name="Content Placeholder 4" descr="Oil barrel at truck parking lot.">
            <a:extLst>
              <a:ext uri="{FF2B5EF4-FFF2-40B4-BE49-F238E27FC236}">
                <a16:creationId xmlns:a16="http://schemas.microsoft.com/office/drawing/2014/main" id="{F9F3100C-D199-4F64-BC9D-66D548E1EF94}"/>
              </a:ext>
            </a:extLst>
          </p:cNvPr>
          <p:cNvPicPr>
            <a:picLocks noGrp="1" noChangeAspect="1"/>
          </p:cNvPicPr>
          <p:nvPr>
            <p:ph type="pic" sz="quarter" idx="13"/>
          </p:nvPr>
        </p:nvPicPr>
        <p:blipFill>
          <a:blip r:embed="rId3"/>
          <a:srcRect l="20572" r="32702" b="-1"/>
          <a:stretch>
            <a:fillRect/>
          </a:stretch>
        </p:blipFill>
        <p:spPr>
          <a:xfrm>
            <a:off x="8165593" y="1373529"/>
            <a:ext cx="3413760" cy="4876800"/>
          </a:xfrm>
        </p:spPr>
      </p:pic>
    </p:spTree>
    <p:extLst>
      <p:ext uri="{BB962C8B-B14F-4D97-AF65-F5344CB8AC3E}">
        <p14:creationId xmlns:p14="http://schemas.microsoft.com/office/powerpoint/2010/main" val="4150606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nochrome blac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7">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rt Copilot_win32_v2" id="{C4441793-7F42-4E6F-AB6E-2BF31AF6ECEE}" vid="{417A8EDD-AC54-49AE-B230-98EE57C80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2fb0e71-afc8-4682-a832-aec916ef82af}" enabled="1" method="Standard" siteId="{1a34129a-1488-47a7-a2a1-6927e7c88b1a}" contentBits="2" removed="0"/>
</clbl:labelList>
</file>

<file path=docProps/app.xml><?xml version="1.0" encoding="utf-8"?>
<Properties xmlns="http://schemas.openxmlformats.org/officeDocument/2006/extended-properties" xmlns:vt="http://schemas.openxmlformats.org/officeDocument/2006/docPropsVTypes">
  <TotalTime>0</TotalTime>
  <Words>3073</Words>
  <Application>Microsoft Office PowerPoint</Application>
  <PresentationFormat>Widescreen</PresentationFormat>
  <Paragraphs>86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Neue Haas Grotesk Text Pro</vt:lpstr>
      <vt:lpstr>Monochrome black</vt:lpstr>
      <vt:lpstr>Heavy Duty Motor Oils (HDMO): Standards, Applications, and Operational Considerations</vt:lpstr>
      <vt:lpstr>Foundations of Heavy Duty Motor Oils</vt:lpstr>
      <vt:lpstr>Purpose and scope of heavy duty motor oils</vt:lpstr>
      <vt:lpstr>HDMO Standards and Classification</vt:lpstr>
      <vt:lpstr>API CK-4 and FA-4 categories explained</vt:lpstr>
      <vt:lpstr>Viscosity and Performance Trade-offs</vt:lpstr>
      <vt:lpstr>Role of viscosity and HTHS in heavy duty engines</vt:lpstr>
      <vt:lpstr>OEM Approvals and Drain Interval Strategy</vt:lpstr>
      <vt:lpstr>Importance of OEM specifications and approvals</vt:lpstr>
      <vt:lpstr>Formulation and Market Trends</vt:lpstr>
      <vt:lpstr>Additives, durability, and emerging efficiency trends</vt:lpstr>
      <vt:lpstr>Practical Implications and Use Cases</vt:lpstr>
      <vt:lpstr>Operational decision-making and risk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Alexandre.Brethome@infineum.com</dc:creator>
  <cp:lastModifiedBy>Brethome, Alexandre</cp:lastModifiedBy>
  <cp:revision>1</cp:revision>
  <dcterms:modified xsi:type="dcterms:W3CDTF">2026-06-03T12:13:22Z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Monochrome black:8</vt:lpwstr>
  </property>
  <property fmtid="{D5CDD505-2E9C-101B-9397-08002B2CF9AE}" pid="3" name="ClassificationContentMarkingFooterText">
    <vt:lpwstr>Classified as Confidential</vt:lpwstr>
  </property>
</Properties>
</file>